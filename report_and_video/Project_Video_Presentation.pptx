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my name is Francois Schmitt, I am a student of the BSc Honours Data Science and AI Online Degree Programme at IIT Guwahati, and this is my Trimester 8 term project: Does Machine Learning Beat the Credit Scorecard? (state name, programme and project verbally, face visible)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PD estimation from origination-time data only. Banks use scorecards for regulatory reasons; the literature says ML wins but measures only discrimination. My project tests all three criteria.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tools mention: Python 3.13, pandas for data, scikit-learn plus XGBoost and LightGBM for models, everything in a modular package on GitHub; one command reproduces the study in about 18 minutes.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Dataset: public Lending Club loans, and worth a moment on what they actually are. Small unsecured consumer loans, median ten thousand dollars over three years, mostly people refinancing more expensive credit-card debt. Note the FICO floor: from 2009 the minimum score in every single vintage is exactly 662, which is an approval cutoff, not a coincidence. Nobody genuinely subprime is in this sample, which is part of why the achievable AUCs sit near 0.68. Then the two key decisions: the origination-time whitelist against leakage, and the out-of-time vintage split.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package on screen here. The design principles: an honest scorecard baseline, identical information for all four models, calibration separated from fitting, and profit from real cash flows. Then the concrete version of the leakage decision: on the left what I kept, all knowable on the day of application; on the right what I threw away. Point at total_rec_prncp: principal received to date equals the loan amount for every repaid loan, so a model using it scores near-perfectly and has learned nothing.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the metrics before showing numbers: AUC and KS for ranking, Brier and ECE for calibration, realized profit for decisions, with DeLong and bootstrap significance everywhere. The point: the three questions can rank models differently.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results: XGBoost +0.85 AUC points over the scorecard, LightGBM close behind, both overwhelmingly significant by DeLong. The MLP actually loses to the scorecard. Explain why the gap is modest.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Reliability diagrams: raw curves above the diagonal because of vintage drift. Isotonic recalibration on 2014 removes most but not all bias. The trees never match the scorecard on calibration; this is why regulators monitor rather than trust PD models.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Profit curves from actual cash flows. The whole battle happens in the zoomed panel: XGBoost's optimal policy makes 2.1% more than the scorecard's. Modest per applicant, linear in volume.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Feature importance vs information value: both models rely on the platform's risk pricing, so all four models largely re-rank loans Lending Club already ranked. The scorecard stays point-readable.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follow-up experiment. The platform's grade and rate are legitimate inputs for an investor, but they narrow the question. Rerunning without them: every model gets worse, the scorecard worst, so the ML advantage nearly triples. And the scorecard's IV screen had already thrown out the installment proxy that both tree ensembles were quietly using.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Taiwan reproduces the ranking, so it is not a Lending Club artifact. Then the honest limitations: reject inference, simple cash-flow model, platform grades as features, single benign test vintage.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qualified yes. Recap the three criteria, the learnings, and future work. Point to the GitHub repo where everything reproduces with one command. Thank the viewer.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itle_slid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274320"/>
          </a:xfrm>
          <a:prstGeom prst="rect">
            <a:avLst/>
          </a:prstGeom>
          <a:noFill/>
        </p:spPr>
        <p:txBody>
          <a:bodyPr wrap="square" anchor="t" lIns="0" rIns="0" tIns="0" bIns="0">
            <a:spAutoFit/>
          </a:bodyPr>
          <a:lstStyle/>
          <a:p>
            <a:pPr algn="l">
              <a:lnSpc>
                <a:spcPct val="100000"/>
              </a:lnSpc>
              <a:spcAft>
                <a:spcPts val="600"/>
              </a:spcAft>
            </a:pPr>
            <a:r>
              <a:rPr sz="1300" b="1" i="0">
                <a:solidFill>
                  <a:srgbClr val="C99B1C"/>
                </a:solidFill>
                <a:latin typeface="Calibri"/>
              </a:rPr>
              <a:t>THE PROBLEM</a:t>
            </a:r>
          </a:p>
        </p:txBody>
      </p:sp>
      <p:sp>
        <p:nvSpPr>
          <p:cNvPr id="3" name="TextBox 2"/>
          <p:cNvSpPr txBox="1"/>
          <p:nvPr/>
        </p:nvSpPr>
        <p:spPr>
          <a:xfrm>
            <a:off x="548640" y="621792"/>
            <a:ext cx="11064240" cy="685800"/>
          </a:xfrm>
          <a:prstGeom prst="rect">
            <a:avLst/>
          </a:prstGeom>
          <a:noFill/>
        </p:spPr>
        <p:txBody>
          <a:bodyPr wrap="square" anchor="t" lIns="0" rIns="0" tIns="0" bIns="0">
            <a:spAutoFit/>
          </a:bodyPr>
          <a:lstStyle/>
          <a:p>
            <a:pPr algn="l">
              <a:lnSpc>
                <a:spcPct val="100000"/>
              </a:lnSpc>
              <a:spcAft>
                <a:spcPts val="600"/>
              </a:spcAft>
            </a:pPr>
            <a:r>
              <a:rPr sz="3200" b="1" i="0">
                <a:solidFill>
                  <a:srgbClr val="1B3A6B"/>
                </a:solidFill>
                <a:latin typeface="Calibri"/>
              </a:rPr>
              <a:t>Probability of Default: the Highest-Stakes Model in Banking</a:t>
            </a:r>
          </a:p>
        </p:txBody>
      </p:sp>
      <p:sp>
        <p:nvSpPr>
          <p:cNvPr id="4" name="TextBox 3"/>
          <p:cNvSpPr txBox="1"/>
          <p:nvPr/>
        </p:nvSpPr>
        <p:spPr>
          <a:xfrm>
            <a:off x="548640" y="1600200"/>
            <a:ext cx="6126480" cy="4206240"/>
          </a:xfrm>
          <a:prstGeom prst="rect">
            <a:avLst/>
          </a:prstGeom>
          <a:noFill/>
        </p:spPr>
        <p:txBody>
          <a:bodyPr wrap="square" anchor="t" lIns="0" rIns="0" tIns="0" bIns="0">
            <a:spAutoFit/>
          </a:bodyPr>
          <a:lstStyle/>
          <a:p>
            <a:pPr algn="l">
              <a:lnSpc>
                <a:spcPct val="105000"/>
              </a:lnSpc>
              <a:spcAft>
                <a:spcPts val="1000"/>
              </a:spcAft>
            </a:pPr>
            <a:r>
              <a:rPr sz="1550" b="1" i="0">
                <a:solidFill>
                  <a:srgbClr val="1B3A6B"/>
                </a:solidFill>
                <a:latin typeface="Calibri"/>
              </a:rPr>
              <a:t>The task:  </a:t>
            </a:r>
            <a:r>
              <a:rPr sz="1550" b="0" i="0">
                <a:solidFill>
                  <a:srgbClr val="212121"/>
                </a:solidFill>
                <a:latin typeface="Calibri"/>
              </a:rPr>
              <a:t>estimate the probability that a loan applicant defaults, using only information available on the day of application.</a:t>
            </a:r>
          </a:p>
          <a:p>
            <a:pPr algn="l">
              <a:lnSpc>
                <a:spcPct val="105000"/>
              </a:lnSpc>
              <a:spcAft>
                <a:spcPts val="1000"/>
              </a:spcAft>
            </a:pPr>
            <a:r>
              <a:rPr sz="1550" b="1" i="0">
                <a:solidFill>
                  <a:srgbClr val="1B3A6B"/>
                </a:solidFill>
                <a:latin typeface="Calibri"/>
              </a:rPr>
              <a:t>Why it matters:  </a:t>
            </a:r>
            <a:r>
              <a:rPr sz="1550" b="0" i="0">
                <a:solidFill>
                  <a:srgbClr val="212121"/>
                </a:solidFill>
                <a:latin typeface="Calibri"/>
              </a:rPr>
              <a:t>PD models drive accept/reject decisions, pricing, and, under Basel and IFRS 9, regulatory capital and provisions.</a:t>
            </a:r>
          </a:p>
          <a:p>
            <a:pPr algn="l">
              <a:lnSpc>
                <a:spcPct val="105000"/>
              </a:lnSpc>
              <a:spcAft>
                <a:spcPts val="1000"/>
              </a:spcAft>
            </a:pPr>
            <a:r>
              <a:rPr sz="1550" b="1" i="0">
                <a:solidFill>
                  <a:srgbClr val="1B3A6B"/>
                </a:solidFill>
                <a:latin typeface="Calibri"/>
              </a:rPr>
              <a:t>The status quo:  </a:t>
            </a:r>
            <a:r>
              <a:rPr sz="1550" b="0" i="0">
                <a:solidFill>
                  <a:srgbClr val="212121"/>
                </a:solidFill>
                <a:latin typeface="Calibri"/>
              </a:rPr>
              <a:t>banks still use logistic-regression scorecards, a forty-year-old technology, because they are stable and explainable.</a:t>
            </a:r>
          </a:p>
          <a:p>
            <a:pPr algn="l">
              <a:lnSpc>
                <a:spcPct val="105000"/>
              </a:lnSpc>
              <a:spcAft>
                <a:spcPts val="1000"/>
              </a:spcAft>
            </a:pPr>
            <a:r>
              <a:rPr sz="1550" b="1" i="0">
                <a:solidFill>
                  <a:srgbClr val="1B3A6B"/>
                </a:solidFill>
                <a:latin typeface="Calibri"/>
              </a:rPr>
              <a:t>The ML claim:  </a:t>
            </a:r>
            <a:r>
              <a:rPr sz="1550" b="0" i="0">
                <a:solidFill>
                  <a:srgbClr val="212121"/>
                </a:solidFill>
                <a:latin typeface="Calibri"/>
              </a:rPr>
              <a:t>benchmarking papers report boosted trees dominate, but they score models almost exclusively by AUC, the area under the ROC curve.</a:t>
            </a:r>
          </a:p>
          <a:p>
            <a:pPr algn="l">
              <a:lnSpc>
                <a:spcPct val="105000"/>
              </a:lnSpc>
              <a:spcAft>
                <a:spcPts val="1000"/>
              </a:spcAft>
            </a:pPr>
            <a:r>
              <a:rPr sz="1550" b="1" i="0">
                <a:solidFill>
                  <a:srgbClr val="1B3A6B"/>
                </a:solidFill>
                <a:latin typeface="Calibri"/>
              </a:rPr>
              <a:t>The question:  </a:t>
            </a:r>
            <a:r>
              <a:rPr sz="1550" b="0" i="0">
                <a:solidFill>
                  <a:srgbClr val="212121"/>
                </a:solidFill>
                <a:latin typeface="Calibri"/>
              </a:rPr>
              <a:t>does the ML advantage survive the criteria a lender actually needs?</a:t>
            </a:r>
          </a:p>
        </p:txBody>
      </p:sp>
      <p:sp>
        <p:nvSpPr>
          <p:cNvPr id="5" name="Rounded Rectangle 4"/>
          <p:cNvSpPr/>
          <p:nvPr/>
        </p:nvSpPr>
        <p:spPr>
          <a:xfrm>
            <a:off x="7040880" y="1600200"/>
            <a:ext cx="4572000" cy="1188720"/>
          </a:xfrm>
          <a:prstGeom prst="roundRect">
            <a:avLst>
              <a:gd name="adj" fmla="val 8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0" y="1755648"/>
            <a:ext cx="4023360" cy="365760"/>
          </a:xfrm>
          <a:prstGeom prst="rect">
            <a:avLst/>
          </a:prstGeom>
          <a:noFill/>
        </p:spPr>
        <p:txBody>
          <a:bodyPr wrap="square" anchor="t" lIns="0" rIns="0" tIns="0" bIns="0">
            <a:spAutoFit/>
          </a:bodyPr>
          <a:lstStyle/>
          <a:p>
            <a:pPr algn="l">
              <a:lnSpc>
                <a:spcPct val="100000"/>
              </a:lnSpc>
              <a:spcAft>
                <a:spcPts val="600"/>
              </a:spcAft>
            </a:pPr>
            <a:r>
              <a:rPr sz="1700" b="1" i="0">
                <a:solidFill>
                  <a:srgbClr val="1B3A6B"/>
                </a:solidFill>
                <a:latin typeface="Calibri"/>
              </a:rPr>
              <a:t>1. Discrimination</a:t>
            </a:r>
          </a:p>
        </p:txBody>
      </p:sp>
      <p:sp>
        <p:nvSpPr>
          <p:cNvPr id="7" name="TextBox 6"/>
          <p:cNvSpPr txBox="1"/>
          <p:nvPr/>
        </p:nvSpPr>
        <p:spPr>
          <a:xfrm>
            <a:off x="7315200" y="2103120"/>
            <a:ext cx="4023360" cy="640080"/>
          </a:xfrm>
          <a:prstGeom prst="rect">
            <a:avLst/>
          </a:prstGeom>
          <a:noFill/>
        </p:spPr>
        <p:txBody>
          <a:bodyPr wrap="square" anchor="t" lIns="0" rIns="0" tIns="0" bIns="0">
            <a:spAutoFit/>
          </a:bodyPr>
          <a:lstStyle/>
          <a:p>
            <a:pPr algn="l">
              <a:lnSpc>
                <a:spcPct val="100000"/>
              </a:lnSpc>
              <a:spcAft>
                <a:spcPts val="600"/>
              </a:spcAft>
            </a:pPr>
            <a:r>
              <a:rPr sz="1300" b="0" i="0">
                <a:solidFill>
                  <a:srgbClr val="212121"/>
                </a:solidFill>
                <a:latin typeface="Calibri"/>
              </a:rPr>
              <a:t>Can the model rank bad borrowers above good ones? (area under the ROC curve, AUC; and KS)</a:t>
            </a:r>
          </a:p>
        </p:txBody>
      </p:sp>
      <p:sp>
        <p:nvSpPr>
          <p:cNvPr id="8" name="Rounded Rectangle 7"/>
          <p:cNvSpPr/>
          <p:nvPr/>
        </p:nvSpPr>
        <p:spPr>
          <a:xfrm>
            <a:off x="7040880" y="3017520"/>
            <a:ext cx="4572000" cy="1188720"/>
          </a:xfrm>
          <a:prstGeom prst="roundRect">
            <a:avLst>
              <a:gd name="adj" fmla="val 8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0" y="3172968"/>
            <a:ext cx="4023360" cy="365760"/>
          </a:xfrm>
          <a:prstGeom prst="rect">
            <a:avLst/>
          </a:prstGeom>
          <a:noFill/>
        </p:spPr>
        <p:txBody>
          <a:bodyPr wrap="square" anchor="t" lIns="0" rIns="0" tIns="0" bIns="0">
            <a:spAutoFit/>
          </a:bodyPr>
          <a:lstStyle/>
          <a:p>
            <a:pPr algn="l">
              <a:lnSpc>
                <a:spcPct val="100000"/>
              </a:lnSpc>
              <a:spcAft>
                <a:spcPts val="600"/>
              </a:spcAft>
            </a:pPr>
            <a:r>
              <a:rPr sz="1700" b="1" i="0">
                <a:solidFill>
                  <a:srgbClr val="1B3A6B"/>
                </a:solidFill>
                <a:latin typeface="Calibri"/>
              </a:rPr>
              <a:t>2. Calibration</a:t>
            </a:r>
          </a:p>
        </p:txBody>
      </p:sp>
      <p:sp>
        <p:nvSpPr>
          <p:cNvPr id="10" name="TextBox 9"/>
          <p:cNvSpPr txBox="1"/>
          <p:nvPr/>
        </p:nvSpPr>
        <p:spPr>
          <a:xfrm>
            <a:off x="7315200" y="3520440"/>
            <a:ext cx="4023360" cy="640080"/>
          </a:xfrm>
          <a:prstGeom prst="rect">
            <a:avLst/>
          </a:prstGeom>
          <a:noFill/>
        </p:spPr>
        <p:txBody>
          <a:bodyPr wrap="square" anchor="t" lIns="0" rIns="0" tIns="0" bIns="0">
            <a:spAutoFit/>
          </a:bodyPr>
          <a:lstStyle/>
          <a:p>
            <a:pPr algn="l">
              <a:lnSpc>
                <a:spcPct val="100000"/>
              </a:lnSpc>
              <a:spcAft>
                <a:spcPts val="600"/>
              </a:spcAft>
            </a:pPr>
            <a:r>
              <a:rPr sz="1300" b="0" i="0">
                <a:solidFill>
                  <a:srgbClr val="212121"/>
                </a:solidFill>
                <a:latin typeface="Calibri"/>
              </a:rPr>
              <a:t>Can the predicted PD be taken at face value? (Brier, ECE, reliability)</a:t>
            </a:r>
          </a:p>
        </p:txBody>
      </p:sp>
      <p:sp>
        <p:nvSpPr>
          <p:cNvPr id="11" name="Rounded Rectangle 10"/>
          <p:cNvSpPr/>
          <p:nvPr/>
        </p:nvSpPr>
        <p:spPr>
          <a:xfrm>
            <a:off x="7040880" y="4434840"/>
            <a:ext cx="4572000" cy="1188720"/>
          </a:xfrm>
          <a:prstGeom prst="roundRect">
            <a:avLst>
              <a:gd name="adj" fmla="val 8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0" y="4590288"/>
            <a:ext cx="4023360" cy="365760"/>
          </a:xfrm>
          <a:prstGeom prst="rect">
            <a:avLst/>
          </a:prstGeom>
          <a:noFill/>
        </p:spPr>
        <p:txBody>
          <a:bodyPr wrap="square" anchor="t" lIns="0" rIns="0" tIns="0" bIns="0">
            <a:spAutoFit/>
          </a:bodyPr>
          <a:lstStyle/>
          <a:p>
            <a:pPr algn="l">
              <a:lnSpc>
                <a:spcPct val="100000"/>
              </a:lnSpc>
              <a:spcAft>
                <a:spcPts val="600"/>
              </a:spcAft>
            </a:pPr>
            <a:r>
              <a:rPr sz="1700" b="1" i="0">
                <a:solidFill>
                  <a:srgbClr val="1B3A6B"/>
                </a:solidFill>
                <a:latin typeface="Calibri"/>
              </a:rPr>
              <a:t>3. Profit</a:t>
            </a:r>
          </a:p>
        </p:txBody>
      </p:sp>
      <p:sp>
        <p:nvSpPr>
          <p:cNvPr id="13" name="TextBox 12"/>
          <p:cNvSpPr txBox="1"/>
          <p:nvPr/>
        </p:nvSpPr>
        <p:spPr>
          <a:xfrm>
            <a:off x="7315200" y="4937760"/>
            <a:ext cx="4023360" cy="640080"/>
          </a:xfrm>
          <a:prstGeom prst="rect">
            <a:avLst/>
          </a:prstGeom>
          <a:noFill/>
        </p:spPr>
        <p:txBody>
          <a:bodyPr wrap="square" anchor="t" lIns="0" rIns="0" tIns="0" bIns="0">
            <a:spAutoFit/>
          </a:bodyPr>
          <a:lstStyle/>
          <a:p>
            <a:pPr algn="l">
              <a:lnSpc>
                <a:spcPct val="100000"/>
              </a:lnSpc>
              <a:spcAft>
                <a:spcPts val="600"/>
              </a:spcAft>
            </a:pPr>
            <a:r>
              <a:rPr sz="1300" b="0" i="0">
                <a:solidFill>
                  <a:srgbClr val="212121"/>
                </a:solidFill>
                <a:latin typeface="Calibri"/>
              </a:rPr>
              <a:t>Does the model make money at its accept/reject cutoff?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274320"/>
          </a:xfrm>
          <a:prstGeom prst="rect">
            <a:avLst/>
          </a:prstGeom>
          <a:noFill/>
        </p:spPr>
        <p:txBody>
          <a:bodyPr wrap="square" anchor="t" lIns="0" rIns="0" tIns="0" bIns="0">
            <a:spAutoFit/>
          </a:bodyPr>
          <a:lstStyle/>
          <a:p>
            <a:pPr algn="l">
              <a:lnSpc>
                <a:spcPct val="100000"/>
              </a:lnSpc>
              <a:spcAft>
                <a:spcPts val="600"/>
              </a:spcAft>
            </a:pPr>
            <a:r>
              <a:rPr sz="1300" b="1" i="0">
                <a:solidFill>
                  <a:srgbClr val="C99B1C"/>
                </a:solidFill>
                <a:latin typeface="Calibri"/>
              </a:rPr>
              <a:t>TOOLS AND TECHNOLOGIES</a:t>
            </a:r>
          </a:p>
        </p:txBody>
      </p:sp>
      <p:sp>
        <p:nvSpPr>
          <p:cNvPr id="3" name="TextBox 2"/>
          <p:cNvSpPr txBox="1"/>
          <p:nvPr/>
        </p:nvSpPr>
        <p:spPr>
          <a:xfrm>
            <a:off x="548640" y="621792"/>
            <a:ext cx="11064240" cy="685800"/>
          </a:xfrm>
          <a:prstGeom prst="rect">
            <a:avLst/>
          </a:prstGeom>
          <a:noFill/>
        </p:spPr>
        <p:txBody>
          <a:bodyPr wrap="square" anchor="t" lIns="0" rIns="0" tIns="0" bIns="0">
            <a:spAutoFit/>
          </a:bodyPr>
          <a:lstStyle/>
          <a:p>
            <a:pPr algn="l">
              <a:lnSpc>
                <a:spcPct val="100000"/>
              </a:lnSpc>
              <a:spcAft>
                <a:spcPts val="600"/>
              </a:spcAft>
            </a:pPr>
            <a:r>
              <a:rPr sz="3200" b="1" i="0">
                <a:solidFill>
                  <a:srgbClr val="1B3A6B"/>
                </a:solidFill>
                <a:latin typeface="Calibri"/>
              </a:rPr>
              <a:t>A Reproducible Python Stack, CPU Only</a:t>
            </a:r>
          </a:p>
        </p:txBody>
      </p:sp>
      <p:sp>
        <p:nvSpPr>
          <p:cNvPr id="4" name="Rounded Rectangle 3"/>
          <p:cNvSpPr/>
          <p:nvPr/>
        </p:nvSpPr>
        <p:spPr>
          <a:xfrm>
            <a:off x="548640" y="1737360"/>
            <a:ext cx="2651760" cy="3108960"/>
          </a:xfrm>
          <a:prstGeom prst="roundRect">
            <a:avLst>
              <a:gd name="adj" fmla="val 8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965960"/>
            <a:ext cx="2103120" cy="365760"/>
          </a:xfrm>
          <a:prstGeom prst="rect">
            <a:avLst/>
          </a:prstGeom>
          <a:noFill/>
        </p:spPr>
        <p:txBody>
          <a:bodyPr wrap="square" anchor="t" lIns="0" rIns="0" tIns="0" bIns="0">
            <a:spAutoFit/>
          </a:bodyPr>
          <a:lstStyle/>
          <a:p>
            <a:pPr algn="l">
              <a:lnSpc>
                <a:spcPct val="100000"/>
              </a:lnSpc>
              <a:spcAft>
                <a:spcPts val="600"/>
              </a:spcAft>
            </a:pPr>
            <a:r>
              <a:rPr sz="1800" b="1" i="0">
                <a:solidFill>
                  <a:srgbClr val="C99B1C"/>
                </a:solidFill>
                <a:latin typeface="Calibri"/>
              </a:rPr>
              <a:t>Language</a:t>
            </a:r>
          </a:p>
        </p:txBody>
      </p:sp>
      <p:sp>
        <p:nvSpPr>
          <p:cNvPr id="6" name="TextBox 5"/>
          <p:cNvSpPr txBox="1"/>
          <p:nvPr/>
        </p:nvSpPr>
        <p:spPr>
          <a:xfrm>
            <a:off x="822960" y="2423160"/>
            <a:ext cx="2103120" cy="2194560"/>
          </a:xfrm>
          <a:prstGeom prst="rect">
            <a:avLst/>
          </a:prstGeom>
          <a:noFill/>
        </p:spPr>
        <p:txBody>
          <a:bodyPr wrap="square" anchor="t" lIns="0" rIns="0" tIns="0" bIns="0">
            <a:spAutoFit/>
          </a:bodyPr>
          <a:lstStyle/>
          <a:p>
            <a:pPr algn="l">
              <a:lnSpc>
                <a:spcPct val="100000"/>
              </a:lnSpc>
              <a:spcAft>
                <a:spcPts val="800"/>
              </a:spcAft>
            </a:pPr>
            <a:r>
              <a:rPr sz="1550" b="0" i="0">
                <a:solidFill>
                  <a:srgbClr val="212121"/>
                </a:solidFill>
                <a:latin typeface="Calibri"/>
              </a:rPr>
              <a:t>Python 3.13</a:t>
            </a:r>
          </a:p>
        </p:txBody>
      </p:sp>
      <p:sp>
        <p:nvSpPr>
          <p:cNvPr id="7" name="Rounded Rectangle 6"/>
          <p:cNvSpPr/>
          <p:nvPr/>
        </p:nvSpPr>
        <p:spPr>
          <a:xfrm>
            <a:off x="3474720" y="1737360"/>
            <a:ext cx="2651760" cy="3108960"/>
          </a:xfrm>
          <a:prstGeom prst="roundRect">
            <a:avLst>
              <a:gd name="adj" fmla="val 8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49040" y="1965960"/>
            <a:ext cx="2103120" cy="365760"/>
          </a:xfrm>
          <a:prstGeom prst="rect">
            <a:avLst/>
          </a:prstGeom>
          <a:noFill/>
        </p:spPr>
        <p:txBody>
          <a:bodyPr wrap="square" anchor="t" lIns="0" rIns="0" tIns="0" bIns="0">
            <a:spAutoFit/>
          </a:bodyPr>
          <a:lstStyle/>
          <a:p>
            <a:pPr algn="l">
              <a:lnSpc>
                <a:spcPct val="100000"/>
              </a:lnSpc>
              <a:spcAft>
                <a:spcPts val="600"/>
              </a:spcAft>
            </a:pPr>
            <a:r>
              <a:rPr sz="1800" b="1" i="0">
                <a:solidFill>
                  <a:srgbClr val="C99B1C"/>
                </a:solidFill>
                <a:latin typeface="Calibri"/>
              </a:rPr>
              <a:t>Data</a:t>
            </a:r>
          </a:p>
        </p:txBody>
      </p:sp>
      <p:sp>
        <p:nvSpPr>
          <p:cNvPr id="9" name="TextBox 8"/>
          <p:cNvSpPr txBox="1"/>
          <p:nvPr/>
        </p:nvSpPr>
        <p:spPr>
          <a:xfrm>
            <a:off x="3749040" y="2423160"/>
            <a:ext cx="2103120" cy="2194560"/>
          </a:xfrm>
          <a:prstGeom prst="rect">
            <a:avLst/>
          </a:prstGeom>
          <a:noFill/>
        </p:spPr>
        <p:txBody>
          <a:bodyPr wrap="square" anchor="t" lIns="0" rIns="0" tIns="0" bIns="0">
            <a:spAutoFit/>
          </a:bodyPr>
          <a:lstStyle/>
          <a:p>
            <a:pPr algn="l">
              <a:lnSpc>
                <a:spcPct val="100000"/>
              </a:lnSpc>
              <a:spcAft>
                <a:spcPts val="800"/>
              </a:spcAft>
            </a:pPr>
            <a:r>
              <a:rPr sz="1550" b="0" i="0">
                <a:solidFill>
                  <a:srgbClr val="212121"/>
                </a:solidFill>
                <a:latin typeface="Calibri"/>
              </a:rPr>
              <a:t>pandas</a:t>
            </a:r>
          </a:p>
          <a:p>
            <a:pPr algn="l">
              <a:lnSpc>
                <a:spcPct val="100000"/>
              </a:lnSpc>
              <a:spcAft>
                <a:spcPts val="800"/>
              </a:spcAft>
            </a:pPr>
            <a:r>
              <a:rPr sz="1550" b="0" i="0">
                <a:solidFill>
                  <a:srgbClr val="212121"/>
                </a:solidFill>
                <a:latin typeface="Calibri"/>
              </a:rPr>
              <a:t>NumPy</a:t>
            </a:r>
          </a:p>
          <a:p>
            <a:pPr algn="l">
              <a:lnSpc>
                <a:spcPct val="100000"/>
              </a:lnSpc>
              <a:spcAft>
                <a:spcPts val="800"/>
              </a:spcAft>
            </a:pPr>
            <a:r>
              <a:rPr sz="1550" b="0" i="0">
                <a:solidFill>
                  <a:srgbClr val="212121"/>
                </a:solidFill>
                <a:latin typeface="Calibri"/>
              </a:rPr>
              <a:t>kagglehub</a:t>
            </a:r>
          </a:p>
        </p:txBody>
      </p:sp>
      <p:sp>
        <p:nvSpPr>
          <p:cNvPr id="10" name="Rounded Rectangle 9"/>
          <p:cNvSpPr/>
          <p:nvPr/>
        </p:nvSpPr>
        <p:spPr>
          <a:xfrm>
            <a:off x="6400800" y="1737360"/>
            <a:ext cx="2651760" cy="3108960"/>
          </a:xfrm>
          <a:prstGeom prst="roundRect">
            <a:avLst>
              <a:gd name="adj" fmla="val 8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0" y="1965960"/>
            <a:ext cx="2103120" cy="365760"/>
          </a:xfrm>
          <a:prstGeom prst="rect">
            <a:avLst/>
          </a:prstGeom>
          <a:noFill/>
        </p:spPr>
        <p:txBody>
          <a:bodyPr wrap="square" anchor="t" lIns="0" rIns="0" tIns="0" bIns="0">
            <a:spAutoFit/>
          </a:bodyPr>
          <a:lstStyle/>
          <a:p>
            <a:pPr algn="l">
              <a:lnSpc>
                <a:spcPct val="100000"/>
              </a:lnSpc>
              <a:spcAft>
                <a:spcPts val="600"/>
              </a:spcAft>
            </a:pPr>
            <a:r>
              <a:rPr sz="1800" b="1" i="0">
                <a:solidFill>
                  <a:srgbClr val="C99B1C"/>
                </a:solidFill>
                <a:latin typeface="Calibri"/>
              </a:rPr>
              <a:t>Models</a:t>
            </a:r>
          </a:p>
        </p:txBody>
      </p:sp>
      <p:sp>
        <p:nvSpPr>
          <p:cNvPr id="12" name="TextBox 11"/>
          <p:cNvSpPr txBox="1"/>
          <p:nvPr/>
        </p:nvSpPr>
        <p:spPr>
          <a:xfrm>
            <a:off x="6675120" y="2423160"/>
            <a:ext cx="2103120" cy="2194560"/>
          </a:xfrm>
          <a:prstGeom prst="rect">
            <a:avLst/>
          </a:prstGeom>
          <a:noFill/>
        </p:spPr>
        <p:txBody>
          <a:bodyPr wrap="square" anchor="t" lIns="0" rIns="0" tIns="0" bIns="0">
            <a:spAutoFit/>
          </a:bodyPr>
          <a:lstStyle/>
          <a:p>
            <a:pPr algn="l">
              <a:lnSpc>
                <a:spcPct val="100000"/>
              </a:lnSpc>
              <a:spcAft>
                <a:spcPts val="800"/>
              </a:spcAft>
            </a:pPr>
            <a:r>
              <a:rPr sz="1550" b="0" i="0">
                <a:solidFill>
                  <a:srgbClr val="212121"/>
                </a:solidFill>
                <a:latin typeface="Calibri"/>
              </a:rPr>
              <a:t>scikit-learn</a:t>
            </a:r>
          </a:p>
          <a:p>
            <a:pPr algn="l">
              <a:lnSpc>
                <a:spcPct val="100000"/>
              </a:lnSpc>
              <a:spcAft>
                <a:spcPts val="800"/>
              </a:spcAft>
            </a:pPr>
            <a:r>
              <a:rPr sz="1550" b="0" i="0">
                <a:solidFill>
                  <a:srgbClr val="212121"/>
                </a:solidFill>
                <a:latin typeface="Calibri"/>
              </a:rPr>
              <a:t>XGBoost</a:t>
            </a:r>
          </a:p>
          <a:p>
            <a:pPr algn="l">
              <a:lnSpc>
                <a:spcPct val="100000"/>
              </a:lnSpc>
              <a:spcAft>
                <a:spcPts val="800"/>
              </a:spcAft>
            </a:pPr>
            <a:r>
              <a:rPr sz="1550" b="0" i="0">
                <a:solidFill>
                  <a:srgbClr val="212121"/>
                </a:solidFill>
                <a:latin typeface="Calibri"/>
              </a:rPr>
              <a:t>LightGBM</a:t>
            </a:r>
          </a:p>
          <a:p>
            <a:pPr algn="l">
              <a:lnSpc>
                <a:spcPct val="100000"/>
              </a:lnSpc>
              <a:spcAft>
                <a:spcPts val="800"/>
              </a:spcAft>
            </a:pPr>
            <a:r>
              <a:rPr sz="1550" b="0" i="0">
                <a:solidFill>
                  <a:srgbClr val="212121"/>
                </a:solidFill>
                <a:latin typeface="Calibri"/>
              </a:rPr>
              <a:t>SciPy</a:t>
            </a:r>
          </a:p>
        </p:txBody>
      </p:sp>
      <p:sp>
        <p:nvSpPr>
          <p:cNvPr id="13" name="Rounded Rectangle 12"/>
          <p:cNvSpPr/>
          <p:nvPr/>
        </p:nvSpPr>
        <p:spPr>
          <a:xfrm>
            <a:off x="9326880" y="1737360"/>
            <a:ext cx="2651760" cy="3108960"/>
          </a:xfrm>
          <a:prstGeom prst="roundRect">
            <a:avLst>
              <a:gd name="adj" fmla="val 8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0" y="1965960"/>
            <a:ext cx="2103120" cy="365760"/>
          </a:xfrm>
          <a:prstGeom prst="rect">
            <a:avLst/>
          </a:prstGeom>
          <a:noFill/>
        </p:spPr>
        <p:txBody>
          <a:bodyPr wrap="square" anchor="t" lIns="0" rIns="0" tIns="0" bIns="0">
            <a:spAutoFit/>
          </a:bodyPr>
          <a:lstStyle/>
          <a:p>
            <a:pPr algn="l">
              <a:lnSpc>
                <a:spcPct val="100000"/>
              </a:lnSpc>
              <a:spcAft>
                <a:spcPts val="600"/>
              </a:spcAft>
            </a:pPr>
            <a:r>
              <a:rPr sz="1800" b="1" i="0">
                <a:solidFill>
                  <a:srgbClr val="C99B1C"/>
                </a:solidFill>
                <a:latin typeface="Calibri"/>
              </a:rPr>
              <a:t>Workflow</a:t>
            </a:r>
          </a:p>
        </p:txBody>
      </p:sp>
      <p:sp>
        <p:nvSpPr>
          <p:cNvPr id="15" name="TextBox 14"/>
          <p:cNvSpPr txBox="1"/>
          <p:nvPr/>
        </p:nvSpPr>
        <p:spPr>
          <a:xfrm>
            <a:off x="9601200" y="2423160"/>
            <a:ext cx="2103120" cy="2194560"/>
          </a:xfrm>
          <a:prstGeom prst="rect">
            <a:avLst/>
          </a:prstGeom>
          <a:noFill/>
        </p:spPr>
        <p:txBody>
          <a:bodyPr wrap="square" anchor="t" lIns="0" rIns="0" tIns="0" bIns="0">
            <a:spAutoFit/>
          </a:bodyPr>
          <a:lstStyle/>
          <a:p>
            <a:pPr algn="l">
              <a:lnSpc>
                <a:spcPct val="100000"/>
              </a:lnSpc>
              <a:spcAft>
                <a:spcPts val="800"/>
              </a:spcAft>
            </a:pPr>
            <a:r>
              <a:rPr sz="1550" b="0" i="0">
                <a:solidFill>
                  <a:srgbClr val="212121"/>
                </a:solidFill>
                <a:latin typeface="Calibri"/>
              </a:rPr>
              <a:t>Jupyter</a:t>
            </a:r>
          </a:p>
          <a:p>
            <a:pPr algn="l">
              <a:lnSpc>
                <a:spcPct val="100000"/>
              </a:lnSpc>
              <a:spcAft>
                <a:spcPts val="800"/>
              </a:spcAft>
            </a:pPr>
            <a:r>
              <a:rPr sz="1550" b="0" i="0">
                <a:solidFill>
                  <a:srgbClr val="212121"/>
                </a:solidFill>
                <a:latin typeface="Calibri"/>
              </a:rPr>
              <a:t>VS Code</a:t>
            </a:r>
          </a:p>
          <a:p>
            <a:pPr algn="l">
              <a:lnSpc>
                <a:spcPct val="100000"/>
              </a:lnSpc>
              <a:spcAft>
                <a:spcPts val="800"/>
              </a:spcAft>
            </a:pPr>
            <a:r>
              <a:rPr sz="1550" b="0" i="0">
                <a:solidFill>
                  <a:srgbClr val="212121"/>
                </a:solidFill>
                <a:latin typeface="Calibri"/>
              </a:rPr>
              <a:t>Git / GitHub</a:t>
            </a:r>
          </a:p>
          <a:p>
            <a:pPr algn="l">
              <a:lnSpc>
                <a:spcPct val="100000"/>
              </a:lnSpc>
              <a:spcAft>
                <a:spcPts val="800"/>
              </a:spcAft>
            </a:pPr>
            <a:r>
              <a:rPr sz="1550" b="0" i="0">
                <a:solidFill>
                  <a:srgbClr val="212121"/>
                </a:solidFill>
                <a:latin typeface="Calibri"/>
              </a:rPr>
              <a:t>LaTeX</a:t>
            </a:r>
          </a:p>
        </p:txBody>
      </p:sp>
      <p:sp>
        <p:nvSpPr>
          <p:cNvPr id="16" name="TextBox 15"/>
          <p:cNvSpPr txBox="1"/>
          <p:nvPr/>
        </p:nvSpPr>
        <p:spPr>
          <a:xfrm>
            <a:off x="548640" y="5212080"/>
            <a:ext cx="11064240" cy="731520"/>
          </a:xfrm>
          <a:prstGeom prst="rect">
            <a:avLst/>
          </a:prstGeom>
          <a:noFill/>
        </p:spPr>
        <p:txBody>
          <a:bodyPr wrap="square" anchor="t" lIns="0" rIns="0" tIns="0" bIns="0">
            <a:spAutoFit/>
          </a:bodyPr>
          <a:lstStyle/>
          <a:p>
            <a:pPr algn="l">
              <a:lnSpc>
                <a:spcPct val="100000"/>
              </a:lnSpc>
              <a:spcAft>
                <a:spcPts val="600"/>
              </a:spcAft>
            </a:pPr>
            <a:r>
              <a:rPr sz="1550" b="1" i="0">
                <a:solidFill>
                  <a:srgbClr val="1B3A6B"/>
                </a:solidFill>
                <a:latin typeface="Calibri"/>
              </a:rPr>
              <a:t>Everything is scripted:  </a:t>
            </a:r>
            <a:r>
              <a:rPr sz="1550" b="0" i="0">
                <a:solidFill>
                  <a:srgbClr val="212121"/>
                </a:solidFill>
                <a:latin typeface="Calibri"/>
              </a:rPr>
              <a:t>one command reproduces the full study, about 18 minutes on a laptop; all seeds fixed, one shared vintage split.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274320"/>
          </a:xfrm>
          <a:prstGeom prst="rect">
            <a:avLst/>
          </a:prstGeom>
          <a:noFill/>
        </p:spPr>
        <p:txBody>
          <a:bodyPr wrap="square" anchor="t" lIns="0" rIns="0" tIns="0" bIns="0">
            <a:spAutoFit/>
          </a:bodyPr>
          <a:lstStyle/>
          <a:p>
            <a:pPr algn="l">
              <a:lnSpc>
                <a:spcPct val="100000"/>
              </a:lnSpc>
              <a:spcAft>
                <a:spcPts val="600"/>
              </a:spcAft>
            </a:pPr>
            <a:r>
              <a:rPr sz="1300" b="1" i="0">
                <a:solidFill>
                  <a:srgbClr val="C99B1C"/>
                </a:solidFill>
                <a:latin typeface="Calibri"/>
              </a:rPr>
              <a:t>DATASET</a:t>
            </a:r>
          </a:p>
        </p:txBody>
      </p:sp>
      <p:sp>
        <p:nvSpPr>
          <p:cNvPr id="3" name="TextBox 2"/>
          <p:cNvSpPr txBox="1"/>
          <p:nvPr/>
        </p:nvSpPr>
        <p:spPr>
          <a:xfrm>
            <a:off x="548640" y="621792"/>
            <a:ext cx="11064240" cy="685800"/>
          </a:xfrm>
          <a:prstGeom prst="rect">
            <a:avLst/>
          </a:prstGeom>
          <a:noFill/>
        </p:spPr>
        <p:txBody>
          <a:bodyPr wrap="square" anchor="t" lIns="0" rIns="0" tIns="0" bIns="0">
            <a:spAutoFit/>
          </a:bodyPr>
          <a:lstStyle/>
          <a:p>
            <a:pPr algn="l">
              <a:lnSpc>
                <a:spcPct val="100000"/>
              </a:lnSpc>
              <a:spcAft>
                <a:spcPts val="600"/>
              </a:spcAft>
            </a:pPr>
            <a:r>
              <a:rPr sz="3200" b="1" i="0">
                <a:solidFill>
                  <a:srgbClr val="1B3A6B"/>
                </a:solidFill>
                <a:latin typeface="Calibri"/>
              </a:rPr>
              <a:t>Lending Club Personal Loans, Engineered Against Leakage</a:t>
            </a:r>
          </a:p>
        </p:txBody>
      </p:sp>
      <p:sp>
        <p:nvSpPr>
          <p:cNvPr id="4" name="TextBox 3"/>
          <p:cNvSpPr txBox="1"/>
          <p:nvPr/>
        </p:nvSpPr>
        <p:spPr>
          <a:xfrm>
            <a:off x="457200" y="1481328"/>
            <a:ext cx="2743200" cy="822960"/>
          </a:xfrm>
          <a:prstGeom prst="rect">
            <a:avLst/>
          </a:prstGeom>
          <a:noFill/>
        </p:spPr>
        <p:txBody>
          <a:bodyPr wrap="square" anchor="ctr" lIns="0" rIns="0" tIns="0" bIns="0">
            <a:spAutoFit/>
          </a:bodyPr>
          <a:lstStyle/>
          <a:p>
            <a:pPr algn="ctr">
              <a:lnSpc>
                <a:spcPct val="100000"/>
              </a:lnSpc>
              <a:spcAft>
                <a:spcPts val="600"/>
              </a:spcAft>
            </a:pPr>
            <a:r>
              <a:rPr sz="4000" b="1" i="0">
                <a:solidFill>
                  <a:srgbClr val="1B3A6B"/>
                </a:solidFill>
                <a:latin typeface="Calibri"/>
              </a:rPr>
              <a:t>621,022</a:t>
            </a:r>
          </a:p>
        </p:txBody>
      </p:sp>
      <p:sp>
        <p:nvSpPr>
          <p:cNvPr id="5" name="TextBox 4"/>
          <p:cNvSpPr txBox="1"/>
          <p:nvPr/>
        </p:nvSpPr>
        <p:spPr>
          <a:xfrm>
            <a:off x="457200" y="2194560"/>
            <a:ext cx="2743200" cy="548640"/>
          </a:xfrm>
          <a:prstGeom prst="rect">
            <a:avLst/>
          </a:prstGeom>
          <a:noFill/>
        </p:spPr>
        <p:txBody>
          <a:bodyPr wrap="square" anchor="t" lIns="0" rIns="0" tIns="0" bIns="0">
            <a:spAutoFit/>
          </a:bodyPr>
          <a:lstStyle/>
          <a:p>
            <a:pPr algn="ctr">
              <a:lnSpc>
                <a:spcPct val="100000"/>
              </a:lnSpc>
              <a:spcAft>
                <a:spcPts val="600"/>
              </a:spcAft>
            </a:pPr>
            <a:r>
              <a:rPr sz="1250" b="0" i="0">
                <a:solidFill>
                  <a:srgbClr val="5A5A5A"/>
                </a:solidFill>
                <a:latin typeface="Calibri"/>
              </a:rPr>
              <a:t>36-month loans, 2007-2015</a:t>
            </a:r>
          </a:p>
        </p:txBody>
      </p:sp>
      <p:sp>
        <p:nvSpPr>
          <p:cNvPr id="6" name="TextBox 5"/>
          <p:cNvSpPr txBox="1"/>
          <p:nvPr/>
        </p:nvSpPr>
        <p:spPr>
          <a:xfrm>
            <a:off x="3337560" y="1481328"/>
            <a:ext cx="2743200" cy="822960"/>
          </a:xfrm>
          <a:prstGeom prst="rect">
            <a:avLst/>
          </a:prstGeom>
          <a:noFill/>
        </p:spPr>
        <p:txBody>
          <a:bodyPr wrap="square" anchor="ctr" lIns="0" rIns="0" tIns="0" bIns="0">
            <a:spAutoFit/>
          </a:bodyPr>
          <a:lstStyle/>
          <a:p>
            <a:pPr algn="ctr">
              <a:lnSpc>
                <a:spcPct val="100000"/>
              </a:lnSpc>
              <a:spcAft>
                <a:spcPts val="600"/>
              </a:spcAft>
            </a:pPr>
            <a:r>
              <a:rPr sz="4000" b="1" i="0">
                <a:solidFill>
                  <a:srgbClr val="1B3A6B"/>
                </a:solidFill>
                <a:latin typeface="Calibri"/>
              </a:rPr>
              <a:t>151 → 23</a:t>
            </a:r>
          </a:p>
        </p:txBody>
      </p:sp>
      <p:sp>
        <p:nvSpPr>
          <p:cNvPr id="7" name="TextBox 6"/>
          <p:cNvSpPr txBox="1"/>
          <p:nvPr/>
        </p:nvSpPr>
        <p:spPr>
          <a:xfrm>
            <a:off x="3337560" y="2194560"/>
            <a:ext cx="2743200" cy="548640"/>
          </a:xfrm>
          <a:prstGeom prst="rect">
            <a:avLst/>
          </a:prstGeom>
          <a:noFill/>
        </p:spPr>
        <p:txBody>
          <a:bodyPr wrap="square" anchor="t" lIns="0" rIns="0" tIns="0" bIns="0">
            <a:spAutoFit/>
          </a:bodyPr>
          <a:lstStyle/>
          <a:p>
            <a:pPr algn="ctr">
              <a:lnSpc>
                <a:spcPct val="100000"/>
              </a:lnSpc>
              <a:spcAft>
                <a:spcPts val="600"/>
              </a:spcAft>
            </a:pPr>
            <a:r>
              <a:rPr sz="1250" b="0" i="0">
                <a:solidFill>
                  <a:srgbClr val="5A5A5A"/>
                </a:solidFill>
                <a:latin typeface="Calibri"/>
              </a:rPr>
              <a:t>columns after leakage whitelist</a:t>
            </a:r>
          </a:p>
        </p:txBody>
      </p:sp>
      <p:sp>
        <p:nvSpPr>
          <p:cNvPr id="8" name="TextBox 7"/>
          <p:cNvSpPr txBox="1"/>
          <p:nvPr/>
        </p:nvSpPr>
        <p:spPr>
          <a:xfrm>
            <a:off x="6217920" y="1481328"/>
            <a:ext cx="2743200" cy="822960"/>
          </a:xfrm>
          <a:prstGeom prst="rect">
            <a:avLst/>
          </a:prstGeom>
          <a:noFill/>
        </p:spPr>
        <p:txBody>
          <a:bodyPr wrap="square" anchor="ctr" lIns="0" rIns="0" tIns="0" bIns="0">
            <a:spAutoFit/>
          </a:bodyPr>
          <a:lstStyle/>
          <a:p>
            <a:pPr algn="ctr">
              <a:lnSpc>
                <a:spcPct val="100000"/>
              </a:lnSpc>
              <a:spcAft>
                <a:spcPts val="600"/>
              </a:spcAft>
            </a:pPr>
            <a:r>
              <a:rPr sz="3000" b="1" i="0">
                <a:solidFill>
                  <a:srgbClr val="1B3A6B"/>
                </a:solidFill>
                <a:latin typeface="Calibri"/>
              </a:rPr>
              <a:t>12.6 → 14.9%</a:t>
            </a:r>
          </a:p>
        </p:txBody>
      </p:sp>
      <p:sp>
        <p:nvSpPr>
          <p:cNvPr id="9" name="TextBox 8"/>
          <p:cNvSpPr txBox="1"/>
          <p:nvPr/>
        </p:nvSpPr>
        <p:spPr>
          <a:xfrm>
            <a:off x="6217920" y="2194560"/>
            <a:ext cx="2743200" cy="548640"/>
          </a:xfrm>
          <a:prstGeom prst="rect">
            <a:avLst/>
          </a:prstGeom>
          <a:noFill/>
        </p:spPr>
        <p:txBody>
          <a:bodyPr wrap="square" anchor="t" lIns="0" rIns="0" tIns="0" bIns="0">
            <a:spAutoFit/>
          </a:bodyPr>
          <a:lstStyle/>
          <a:p>
            <a:pPr algn="ctr">
              <a:lnSpc>
                <a:spcPct val="100000"/>
              </a:lnSpc>
              <a:spcAft>
                <a:spcPts val="600"/>
              </a:spcAft>
            </a:pPr>
            <a:r>
              <a:rPr sz="1250" b="0" i="0">
                <a:solidFill>
                  <a:srgbClr val="5A5A5A"/>
                </a:solidFill>
                <a:latin typeface="Calibri"/>
              </a:rPr>
              <a:t>default rate, train → test vintage</a:t>
            </a:r>
          </a:p>
        </p:txBody>
      </p:sp>
      <p:sp>
        <p:nvSpPr>
          <p:cNvPr id="10" name="TextBox 9"/>
          <p:cNvSpPr txBox="1"/>
          <p:nvPr/>
        </p:nvSpPr>
        <p:spPr>
          <a:xfrm>
            <a:off x="9098280" y="1481328"/>
            <a:ext cx="2743200" cy="822960"/>
          </a:xfrm>
          <a:prstGeom prst="rect">
            <a:avLst/>
          </a:prstGeom>
          <a:noFill/>
        </p:spPr>
        <p:txBody>
          <a:bodyPr wrap="square" anchor="ctr" lIns="0" rIns="0" tIns="0" bIns="0">
            <a:spAutoFit/>
          </a:bodyPr>
          <a:lstStyle/>
          <a:p>
            <a:pPr algn="ctr">
              <a:lnSpc>
                <a:spcPct val="100000"/>
              </a:lnSpc>
              <a:spcAft>
                <a:spcPts val="600"/>
              </a:spcAft>
            </a:pPr>
            <a:r>
              <a:rPr sz="4000" b="1" i="0">
                <a:solidFill>
                  <a:srgbClr val="1B3A6B"/>
                </a:solidFill>
                <a:latin typeface="Calibri"/>
              </a:rPr>
              <a:t>30,000</a:t>
            </a:r>
          </a:p>
        </p:txBody>
      </p:sp>
      <p:sp>
        <p:nvSpPr>
          <p:cNvPr id="11" name="TextBox 10"/>
          <p:cNvSpPr txBox="1"/>
          <p:nvPr/>
        </p:nvSpPr>
        <p:spPr>
          <a:xfrm>
            <a:off x="9098280" y="2194560"/>
            <a:ext cx="2743200" cy="548640"/>
          </a:xfrm>
          <a:prstGeom prst="rect">
            <a:avLst/>
          </a:prstGeom>
          <a:noFill/>
        </p:spPr>
        <p:txBody>
          <a:bodyPr wrap="square" anchor="t" lIns="0" rIns="0" tIns="0" bIns="0">
            <a:spAutoFit/>
          </a:bodyPr>
          <a:lstStyle/>
          <a:p>
            <a:pPr algn="ctr">
              <a:lnSpc>
                <a:spcPct val="100000"/>
              </a:lnSpc>
              <a:spcAft>
                <a:spcPts val="600"/>
              </a:spcAft>
            </a:pPr>
            <a:r>
              <a:rPr sz="1250" b="0" i="0">
                <a:solidFill>
                  <a:srgbClr val="5A5A5A"/>
                </a:solidFill>
                <a:latin typeface="Calibri"/>
              </a:rPr>
              <a:t>UCI Taiwan clients (robustness)</a:t>
            </a:r>
          </a:p>
        </p:txBody>
      </p:sp>
      <p:sp>
        <p:nvSpPr>
          <p:cNvPr id="12" name="Rounded Rectangle 11"/>
          <p:cNvSpPr/>
          <p:nvPr/>
        </p:nvSpPr>
        <p:spPr>
          <a:xfrm>
            <a:off x="548640" y="2697480"/>
            <a:ext cx="11064240" cy="1783080"/>
          </a:xfrm>
          <a:prstGeom prst="roundRect">
            <a:avLst>
              <a:gd name="adj" fmla="val 8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852928"/>
            <a:ext cx="3657600" cy="320040"/>
          </a:xfrm>
          <a:prstGeom prst="rect">
            <a:avLst/>
          </a:prstGeom>
          <a:noFill/>
        </p:spPr>
        <p:txBody>
          <a:bodyPr wrap="square" anchor="t" lIns="0" rIns="0" tIns="0" bIns="0">
            <a:spAutoFit/>
          </a:bodyPr>
          <a:lstStyle/>
          <a:p>
            <a:pPr algn="l">
              <a:lnSpc>
                <a:spcPct val="100000"/>
              </a:lnSpc>
              <a:spcAft>
                <a:spcPts val="600"/>
              </a:spcAft>
            </a:pPr>
            <a:r>
              <a:rPr sz="1550" b="1" i="0">
                <a:solidFill>
                  <a:srgbClr val="1B3A6B"/>
                </a:solidFill>
                <a:latin typeface="Calibri"/>
              </a:rPr>
              <a:t>Small unsecured consumer loans</a:t>
            </a:r>
          </a:p>
        </p:txBody>
      </p:sp>
      <p:sp>
        <p:nvSpPr>
          <p:cNvPr id="14" name="TextBox 13"/>
          <p:cNvSpPr txBox="1"/>
          <p:nvPr/>
        </p:nvSpPr>
        <p:spPr>
          <a:xfrm>
            <a:off x="868680" y="3246120"/>
            <a:ext cx="1005840" cy="320040"/>
          </a:xfrm>
          <a:prstGeom prst="rect">
            <a:avLst/>
          </a:prstGeom>
          <a:noFill/>
        </p:spPr>
        <p:txBody>
          <a:bodyPr wrap="square" anchor="t" lIns="0" rIns="0" tIns="0" bIns="0">
            <a:spAutoFit/>
          </a:bodyPr>
          <a:lstStyle/>
          <a:p>
            <a:pPr algn="l">
              <a:lnSpc>
                <a:spcPct val="100000"/>
              </a:lnSpc>
              <a:spcAft>
                <a:spcPts val="600"/>
              </a:spcAft>
            </a:pPr>
            <a:r>
              <a:rPr sz="1250" b="1" i="0">
                <a:solidFill>
                  <a:srgbClr val="C99B1C"/>
                </a:solidFill>
                <a:latin typeface="Calibri"/>
              </a:rPr>
              <a:t>Size</a:t>
            </a:r>
          </a:p>
        </p:txBody>
      </p:sp>
      <p:sp>
        <p:nvSpPr>
          <p:cNvPr id="15" name="TextBox 14"/>
          <p:cNvSpPr txBox="1"/>
          <p:nvPr/>
        </p:nvSpPr>
        <p:spPr>
          <a:xfrm>
            <a:off x="1920240" y="3246120"/>
            <a:ext cx="4023360" cy="320040"/>
          </a:xfrm>
          <a:prstGeom prst="rect">
            <a:avLst/>
          </a:prstGeom>
          <a:noFill/>
        </p:spPr>
        <p:txBody>
          <a:bodyPr wrap="square" anchor="t" lIns="0" rIns="0" tIns="0" bIns="0">
            <a:spAutoFit/>
          </a:bodyPr>
          <a:lstStyle/>
          <a:p>
            <a:pPr algn="l">
              <a:lnSpc>
                <a:spcPct val="100000"/>
              </a:lnSpc>
              <a:spcAft>
                <a:spcPts val="600"/>
              </a:spcAft>
            </a:pPr>
            <a:r>
              <a:rPr sz="1250" b="0" i="0">
                <a:solidFill>
                  <a:srgbClr val="212121"/>
                </a:solidFill>
                <a:latin typeface="Calibri"/>
              </a:rPr>
              <a:t>$500 to the $35,000 ceiling, median $10,000, $342 a month</a:t>
            </a:r>
          </a:p>
        </p:txBody>
      </p:sp>
      <p:sp>
        <p:nvSpPr>
          <p:cNvPr id="16" name="TextBox 15"/>
          <p:cNvSpPr txBox="1"/>
          <p:nvPr/>
        </p:nvSpPr>
        <p:spPr>
          <a:xfrm>
            <a:off x="868680" y="3611880"/>
            <a:ext cx="1005840" cy="320040"/>
          </a:xfrm>
          <a:prstGeom prst="rect">
            <a:avLst/>
          </a:prstGeom>
          <a:noFill/>
        </p:spPr>
        <p:txBody>
          <a:bodyPr wrap="square" anchor="t" lIns="0" rIns="0" tIns="0" bIns="0">
            <a:spAutoFit/>
          </a:bodyPr>
          <a:lstStyle/>
          <a:p>
            <a:pPr algn="l">
              <a:lnSpc>
                <a:spcPct val="100000"/>
              </a:lnSpc>
              <a:spcAft>
                <a:spcPts val="600"/>
              </a:spcAft>
            </a:pPr>
            <a:r>
              <a:rPr sz="1250" b="1" i="0">
                <a:solidFill>
                  <a:srgbClr val="C99B1C"/>
                </a:solidFill>
                <a:latin typeface="Calibri"/>
              </a:rPr>
              <a:t>Price</a:t>
            </a:r>
          </a:p>
        </p:txBody>
      </p:sp>
      <p:sp>
        <p:nvSpPr>
          <p:cNvPr id="17" name="TextBox 16"/>
          <p:cNvSpPr txBox="1"/>
          <p:nvPr/>
        </p:nvSpPr>
        <p:spPr>
          <a:xfrm>
            <a:off x="1920240" y="3611880"/>
            <a:ext cx="4023360" cy="320040"/>
          </a:xfrm>
          <a:prstGeom prst="rect">
            <a:avLst/>
          </a:prstGeom>
          <a:noFill/>
        </p:spPr>
        <p:txBody>
          <a:bodyPr wrap="square" anchor="t" lIns="0" rIns="0" tIns="0" bIns="0">
            <a:spAutoFit/>
          </a:bodyPr>
          <a:lstStyle/>
          <a:p>
            <a:pPr algn="l">
              <a:lnSpc>
                <a:spcPct val="100000"/>
              </a:lnSpc>
              <a:spcAft>
                <a:spcPts val="600"/>
              </a:spcAft>
            </a:pPr>
            <a:r>
              <a:rPr sz="1250" b="0" i="0">
                <a:solidFill>
                  <a:srgbClr val="212121"/>
                </a:solidFill>
                <a:latin typeface="Calibri"/>
              </a:rPr>
              <a:t>5.3% to 29.0%, mean near 12%</a:t>
            </a:r>
          </a:p>
        </p:txBody>
      </p:sp>
      <p:sp>
        <p:nvSpPr>
          <p:cNvPr id="18" name="TextBox 17"/>
          <p:cNvSpPr txBox="1"/>
          <p:nvPr/>
        </p:nvSpPr>
        <p:spPr>
          <a:xfrm>
            <a:off x="868680" y="3977640"/>
            <a:ext cx="1005840" cy="320040"/>
          </a:xfrm>
          <a:prstGeom prst="rect">
            <a:avLst/>
          </a:prstGeom>
          <a:noFill/>
        </p:spPr>
        <p:txBody>
          <a:bodyPr wrap="square" anchor="t" lIns="0" rIns="0" tIns="0" bIns="0">
            <a:spAutoFit/>
          </a:bodyPr>
          <a:lstStyle/>
          <a:p>
            <a:pPr algn="l">
              <a:lnSpc>
                <a:spcPct val="100000"/>
              </a:lnSpc>
              <a:spcAft>
                <a:spcPts val="600"/>
              </a:spcAft>
            </a:pPr>
            <a:r>
              <a:rPr sz="1250" b="1" i="0">
                <a:solidFill>
                  <a:srgbClr val="C99B1C"/>
                </a:solidFill>
                <a:latin typeface="Calibri"/>
              </a:rPr>
              <a:t>Borrower</a:t>
            </a:r>
          </a:p>
        </p:txBody>
      </p:sp>
      <p:sp>
        <p:nvSpPr>
          <p:cNvPr id="19" name="TextBox 18"/>
          <p:cNvSpPr txBox="1"/>
          <p:nvPr/>
        </p:nvSpPr>
        <p:spPr>
          <a:xfrm>
            <a:off x="1920240" y="3977640"/>
            <a:ext cx="4023360" cy="320040"/>
          </a:xfrm>
          <a:prstGeom prst="rect">
            <a:avLst/>
          </a:prstGeom>
          <a:noFill/>
        </p:spPr>
        <p:txBody>
          <a:bodyPr wrap="square" anchor="t" lIns="0" rIns="0" tIns="0" bIns="0">
            <a:spAutoFit/>
          </a:bodyPr>
          <a:lstStyle/>
          <a:p>
            <a:pPr algn="l">
              <a:lnSpc>
                <a:spcPct val="100000"/>
              </a:lnSpc>
              <a:spcAft>
                <a:spcPts val="600"/>
              </a:spcAft>
            </a:pPr>
            <a:r>
              <a:rPr sz="1250" b="0" i="0">
                <a:solidFill>
                  <a:srgbClr val="212121"/>
                </a:solidFill>
                <a:latin typeface="Calibri"/>
              </a:rPr>
              <a:t>median income $60,000, debt-to-income ratio 17%</a:t>
            </a:r>
          </a:p>
        </p:txBody>
      </p:sp>
      <p:sp>
        <p:nvSpPr>
          <p:cNvPr id="20" name="TextBox 19"/>
          <p:cNvSpPr txBox="1"/>
          <p:nvPr/>
        </p:nvSpPr>
        <p:spPr>
          <a:xfrm>
            <a:off x="6309360" y="3246120"/>
            <a:ext cx="1005840" cy="320040"/>
          </a:xfrm>
          <a:prstGeom prst="rect">
            <a:avLst/>
          </a:prstGeom>
          <a:noFill/>
        </p:spPr>
        <p:txBody>
          <a:bodyPr wrap="square" anchor="t" lIns="0" rIns="0" tIns="0" bIns="0">
            <a:spAutoFit/>
          </a:bodyPr>
          <a:lstStyle/>
          <a:p>
            <a:pPr algn="l">
              <a:lnSpc>
                <a:spcPct val="100000"/>
              </a:lnSpc>
              <a:spcAft>
                <a:spcPts val="600"/>
              </a:spcAft>
            </a:pPr>
            <a:r>
              <a:rPr sz="1250" b="1" i="0">
                <a:solidFill>
                  <a:srgbClr val="C99B1C"/>
                </a:solidFill>
                <a:latin typeface="Calibri"/>
              </a:rPr>
              <a:t>Purpose</a:t>
            </a:r>
          </a:p>
        </p:txBody>
      </p:sp>
      <p:sp>
        <p:nvSpPr>
          <p:cNvPr id="21" name="TextBox 20"/>
          <p:cNvSpPr txBox="1"/>
          <p:nvPr/>
        </p:nvSpPr>
        <p:spPr>
          <a:xfrm>
            <a:off x="7360920" y="3246120"/>
            <a:ext cx="4023360" cy="320040"/>
          </a:xfrm>
          <a:prstGeom prst="rect">
            <a:avLst/>
          </a:prstGeom>
          <a:noFill/>
        </p:spPr>
        <p:txBody>
          <a:bodyPr wrap="square" anchor="t" lIns="0" rIns="0" tIns="0" bIns="0">
            <a:spAutoFit/>
          </a:bodyPr>
          <a:lstStyle/>
          <a:p>
            <a:pPr algn="l">
              <a:lnSpc>
                <a:spcPct val="100000"/>
              </a:lnSpc>
              <a:spcAft>
                <a:spcPts val="600"/>
              </a:spcAft>
            </a:pPr>
            <a:r>
              <a:rPr sz="1250" b="0" i="0">
                <a:solidFill>
                  <a:srgbClr val="212121"/>
                </a:solidFill>
                <a:latin typeface="Calibri"/>
              </a:rPr>
              <a:t>57% debt consolidation, 24% credit card: refinancing</a:t>
            </a:r>
          </a:p>
        </p:txBody>
      </p:sp>
      <p:sp>
        <p:nvSpPr>
          <p:cNvPr id="22" name="TextBox 21"/>
          <p:cNvSpPr txBox="1"/>
          <p:nvPr/>
        </p:nvSpPr>
        <p:spPr>
          <a:xfrm>
            <a:off x="6309360" y="3611880"/>
            <a:ext cx="1005840" cy="320040"/>
          </a:xfrm>
          <a:prstGeom prst="rect">
            <a:avLst/>
          </a:prstGeom>
          <a:noFill/>
        </p:spPr>
        <p:txBody>
          <a:bodyPr wrap="square" anchor="t" lIns="0" rIns="0" tIns="0" bIns="0">
            <a:spAutoFit/>
          </a:bodyPr>
          <a:lstStyle/>
          <a:p>
            <a:pPr algn="l">
              <a:lnSpc>
                <a:spcPct val="100000"/>
              </a:lnSpc>
              <a:spcAft>
                <a:spcPts val="600"/>
              </a:spcAft>
            </a:pPr>
            <a:r>
              <a:rPr sz="1250" b="1" i="0">
                <a:solidFill>
                  <a:srgbClr val="C99B1C"/>
                </a:solidFill>
                <a:latin typeface="Calibri"/>
              </a:rPr>
              <a:t>Housing</a:t>
            </a:r>
          </a:p>
        </p:txBody>
      </p:sp>
      <p:sp>
        <p:nvSpPr>
          <p:cNvPr id="23" name="TextBox 22"/>
          <p:cNvSpPr txBox="1"/>
          <p:nvPr/>
        </p:nvSpPr>
        <p:spPr>
          <a:xfrm>
            <a:off x="7360920" y="3611880"/>
            <a:ext cx="4023360" cy="320040"/>
          </a:xfrm>
          <a:prstGeom prst="rect">
            <a:avLst/>
          </a:prstGeom>
          <a:noFill/>
        </p:spPr>
        <p:txBody>
          <a:bodyPr wrap="square" anchor="t" lIns="0" rIns="0" tIns="0" bIns="0">
            <a:spAutoFit/>
          </a:bodyPr>
          <a:lstStyle/>
          <a:p>
            <a:pPr algn="l">
              <a:lnSpc>
                <a:spcPct val="100000"/>
              </a:lnSpc>
              <a:spcAft>
                <a:spcPts val="600"/>
              </a:spcAft>
            </a:pPr>
            <a:r>
              <a:rPr sz="1250" b="0" i="0">
                <a:solidFill>
                  <a:srgbClr val="212121"/>
                </a:solidFill>
                <a:latin typeface="Calibri"/>
              </a:rPr>
              <a:t>46% mortgage, 43% renting, 10% owned</a:t>
            </a:r>
          </a:p>
        </p:txBody>
      </p:sp>
      <p:sp>
        <p:nvSpPr>
          <p:cNvPr id="24" name="TextBox 23"/>
          <p:cNvSpPr txBox="1"/>
          <p:nvPr/>
        </p:nvSpPr>
        <p:spPr>
          <a:xfrm>
            <a:off x="6309360" y="3977640"/>
            <a:ext cx="1005840" cy="320040"/>
          </a:xfrm>
          <a:prstGeom prst="rect">
            <a:avLst/>
          </a:prstGeom>
          <a:noFill/>
        </p:spPr>
        <p:txBody>
          <a:bodyPr wrap="square" anchor="t" lIns="0" rIns="0" tIns="0" bIns="0">
            <a:spAutoFit/>
          </a:bodyPr>
          <a:lstStyle/>
          <a:p>
            <a:pPr algn="l">
              <a:lnSpc>
                <a:spcPct val="100000"/>
              </a:lnSpc>
              <a:spcAft>
                <a:spcPts val="600"/>
              </a:spcAft>
            </a:pPr>
            <a:r>
              <a:rPr sz="1250" b="1" i="0">
                <a:solidFill>
                  <a:srgbClr val="C99B1C"/>
                </a:solidFill>
                <a:latin typeface="Calibri"/>
              </a:rPr>
              <a:t>Grades</a:t>
            </a:r>
          </a:p>
        </p:txBody>
      </p:sp>
      <p:sp>
        <p:nvSpPr>
          <p:cNvPr id="25" name="TextBox 24"/>
          <p:cNvSpPr txBox="1"/>
          <p:nvPr/>
        </p:nvSpPr>
        <p:spPr>
          <a:xfrm>
            <a:off x="7360920" y="3977640"/>
            <a:ext cx="4023360" cy="320040"/>
          </a:xfrm>
          <a:prstGeom prst="rect">
            <a:avLst/>
          </a:prstGeom>
          <a:noFill/>
        </p:spPr>
        <p:txBody>
          <a:bodyPr wrap="square" anchor="t" lIns="0" rIns="0" tIns="0" bIns="0">
            <a:spAutoFit/>
          </a:bodyPr>
          <a:lstStyle/>
          <a:p>
            <a:pPr algn="l">
              <a:lnSpc>
                <a:spcPct val="100000"/>
              </a:lnSpc>
              <a:spcAft>
                <a:spcPts val="600"/>
              </a:spcAft>
            </a:pPr>
            <a:r>
              <a:rPr sz="1250" b="0" i="0">
                <a:solidFill>
                  <a:srgbClr val="212121"/>
                </a:solidFill>
                <a:latin typeface="Calibri"/>
              </a:rPr>
              <a:t>A to D is 96% of the book; E to G only 4.3%</a:t>
            </a:r>
          </a:p>
        </p:txBody>
      </p:sp>
      <p:sp>
        <p:nvSpPr>
          <p:cNvPr id="26" name="TextBox 25"/>
          <p:cNvSpPr txBox="1"/>
          <p:nvPr/>
        </p:nvSpPr>
        <p:spPr>
          <a:xfrm>
            <a:off x="6309360" y="2852928"/>
            <a:ext cx="5120640" cy="320040"/>
          </a:xfrm>
          <a:prstGeom prst="rect">
            <a:avLst/>
          </a:prstGeom>
          <a:noFill/>
        </p:spPr>
        <p:txBody>
          <a:bodyPr wrap="square" anchor="t" lIns="0" rIns="0" tIns="0" bIns="0">
            <a:spAutoFit/>
          </a:bodyPr>
          <a:lstStyle/>
          <a:p>
            <a:pPr algn="l">
              <a:lnSpc>
                <a:spcPct val="100000"/>
              </a:lnSpc>
              <a:spcAft>
                <a:spcPts val="600"/>
              </a:spcAft>
            </a:pPr>
            <a:r>
              <a:rPr sz="1250" b="1" i="0">
                <a:solidFill>
                  <a:srgbClr val="1B3A6B"/>
                </a:solidFill>
                <a:latin typeface="Calibri"/>
              </a:rPr>
              <a:t>FICO credit score:  </a:t>
            </a:r>
            <a:r>
              <a:rPr sz="1250" b="0" i="0">
                <a:solidFill>
                  <a:srgbClr val="212121"/>
                </a:solidFill>
                <a:latin typeface="Calibri"/>
              </a:rPr>
              <a:t>floor 662, median 692, an approval cutoff</a:t>
            </a:r>
          </a:p>
        </p:txBody>
      </p:sp>
      <p:sp>
        <p:nvSpPr>
          <p:cNvPr id="27" name="TextBox 26"/>
          <p:cNvSpPr txBox="1"/>
          <p:nvPr/>
        </p:nvSpPr>
        <p:spPr>
          <a:xfrm>
            <a:off x="548640" y="4709160"/>
            <a:ext cx="11064240" cy="1920240"/>
          </a:xfrm>
          <a:prstGeom prst="rect">
            <a:avLst/>
          </a:prstGeom>
          <a:noFill/>
        </p:spPr>
        <p:txBody>
          <a:bodyPr wrap="square" anchor="t" lIns="0" rIns="0" tIns="0" bIns="0">
            <a:spAutoFit/>
          </a:bodyPr>
          <a:lstStyle/>
          <a:p>
            <a:pPr algn="l">
              <a:lnSpc>
                <a:spcPct val="105000"/>
              </a:lnSpc>
              <a:spcAft>
                <a:spcPts val="900"/>
              </a:spcAft>
            </a:pPr>
            <a:r>
              <a:rPr sz="1450" b="1" i="0">
                <a:solidFill>
                  <a:srgbClr val="1B3A6B"/>
                </a:solidFill>
                <a:latin typeface="Calibri"/>
              </a:rPr>
              <a:t>The leakage filter is the hard work:  </a:t>
            </a:r>
            <a:r>
              <a:rPr sz="1450" b="0" i="0">
                <a:solidFill>
                  <a:srgbClr val="212121"/>
                </a:solidFill>
                <a:latin typeface="Calibri"/>
              </a:rPr>
              <a:t>of the 151 raw columns, most are post-origination servicing fields (payments received, recoveries, hardship flags) that trivially predict the outcome. I kept an explicit whitelist of 23 origination-time fields.</a:t>
            </a:r>
          </a:p>
          <a:p>
            <a:pPr algn="l">
              <a:lnSpc>
                <a:spcPct val="105000"/>
              </a:lnSpc>
              <a:spcAft>
                <a:spcPts val="900"/>
              </a:spcAft>
            </a:pPr>
            <a:r>
              <a:rPr sz="1450" b="1" i="0">
                <a:solidFill>
                  <a:srgbClr val="1B3A6B"/>
                </a:solidFill>
                <a:latin typeface="Calibri"/>
              </a:rPr>
              <a:t>Out-of-time split:  </a:t>
            </a:r>
            <a:r>
              <a:rPr sz="1450" b="0" i="0">
                <a:solidFill>
                  <a:srgbClr val="212121"/>
                </a:solidFill>
                <a:latin typeface="Calibri"/>
              </a:rPr>
              <a:t>train on 2007-2013, calibrate on 2014, test on 2015, exactly how a deployed model meets the future. The rising default rate across vintages is the drift a real model faces.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274320"/>
          </a:xfrm>
          <a:prstGeom prst="rect">
            <a:avLst/>
          </a:prstGeom>
          <a:noFill/>
        </p:spPr>
        <p:txBody>
          <a:bodyPr wrap="square" anchor="t" lIns="0" rIns="0" tIns="0" bIns="0">
            <a:spAutoFit/>
          </a:bodyPr>
          <a:lstStyle/>
          <a:p>
            <a:pPr algn="l">
              <a:lnSpc>
                <a:spcPct val="100000"/>
              </a:lnSpc>
              <a:spcAft>
                <a:spcPts val="600"/>
              </a:spcAft>
            </a:pPr>
            <a:r>
              <a:rPr sz="1300" b="1" i="0">
                <a:solidFill>
                  <a:srgbClr val="C99B1C"/>
                </a:solidFill>
                <a:latin typeface="Calibri"/>
              </a:rPr>
              <a:t>APPROACH AND CODE</a:t>
            </a:r>
          </a:p>
        </p:txBody>
      </p:sp>
      <p:sp>
        <p:nvSpPr>
          <p:cNvPr id="3" name="TextBox 2"/>
          <p:cNvSpPr txBox="1"/>
          <p:nvPr/>
        </p:nvSpPr>
        <p:spPr>
          <a:xfrm>
            <a:off x="548640" y="621792"/>
            <a:ext cx="11064240" cy="685800"/>
          </a:xfrm>
          <a:prstGeom prst="rect">
            <a:avLst/>
          </a:prstGeom>
          <a:noFill/>
        </p:spPr>
        <p:txBody>
          <a:bodyPr wrap="square" anchor="t" lIns="0" rIns="0" tIns="0" bIns="0">
            <a:spAutoFit/>
          </a:bodyPr>
          <a:lstStyle/>
          <a:p>
            <a:pPr algn="l">
              <a:lnSpc>
                <a:spcPct val="100000"/>
              </a:lnSpc>
              <a:spcAft>
                <a:spcPts val="600"/>
              </a:spcAft>
            </a:pPr>
            <a:r>
              <a:rPr sz="3200" b="1" i="0">
                <a:solidFill>
                  <a:srgbClr val="1B3A6B"/>
                </a:solidFill>
                <a:latin typeface="Calibri"/>
              </a:rPr>
              <a:t>One Pipeline, Four Models, Identical Information</a:t>
            </a:r>
          </a:p>
        </p:txBody>
      </p:sp>
      <p:sp>
        <p:nvSpPr>
          <p:cNvPr id="4" name="Rounded Rectangle 3"/>
          <p:cNvSpPr/>
          <p:nvPr/>
        </p:nvSpPr>
        <p:spPr>
          <a:xfrm>
            <a:off x="548640" y="1554480"/>
            <a:ext cx="5394960" cy="2697480"/>
          </a:xfrm>
          <a:prstGeom prst="roundRect">
            <a:avLst>
              <a:gd name="adj" fmla="val 8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691640"/>
            <a:ext cx="4846320" cy="320040"/>
          </a:xfrm>
          <a:prstGeom prst="rect">
            <a:avLst/>
          </a:prstGeom>
          <a:noFill/>
        </p:spPr>
        <p:txBody>
          <a:bodyPr wrap="square" anchor="t" lIns="0" rIns="0" tIns="0" bIns="0">
            <a:spAutoFit/>
          </a:bodyPr>
          <a:lstStyle/>
          <a:p>
            <a:pPr algn="l">
              <a:lnSpc>
                <a:spcPct val="100000"/>
              </a:lnSpc>
              <a:spcAft>
                <a:spcPts val="600"/>
              </a:spcAft>
            </a:pPr>
            <a:r>
              <a:rPr sz="1550" b="1" i="0">
                <a:solidFill>
                  <a:srgbClr val="1B3A6B"/>
                </a:solidFill>
                <a:latin typeface="Calibri"/>
              </a:rPr>
              <a:t>The creditrisk package</a:t>
            </a:r>
          </a:p>
        </p:txBody>
      </p:sp>
      <p:sp>
        <p:nvSpPr>
          <p:cNvPr id="6" name="TextBox 5"/>
          <p:cNvSpPr txBox="1"/>
          <p:nvPr/>
        </p:nvSpPr>
        <p:spPr>
          <a:xfrm>
            <a:off x="822960" y="2084831"/>
            <a:ext cx="4846320" cy="2103120"/>
          </a:xfrm>
          <a:prstGeom prst="rect">
            <a:avLst/>
          </a:prstGeom>
          <a:noFill/>
        </p:spPr>
        <p:txBody>
          <a:bodyPr wrap="square" anchor="t" lIns="0" rIns="0" tIns="0" bIns="0">
            <a:spAutoFit/>
          </a:bodyPr>
          <a:lstStyle/>
          <a:p>
            <a:pPr algn="l">
              <a:lnSpc>
                <a:spcPct val="100000"/>
              </a:lnSpc>
              <a:spcAft>
                <a:spcPts val="500"/>
              </a:spcAft>
            </a:pPr>
            <a:r>
              <a:rPr sz="1250" b="1" i="0">
                <a:solidFill>
                  <a:srgbClr val="C99B1C"/>
                </a:solidFill>
                <a:latin typeface="Calibri"/>
              </a:rPr>
              <a:t>data</a:t>
            </a:r>
            <a:r>
              <a:rPr sz="1250" b="0" i="0">
                <a:solidFill>
                  <a:srgbClr val="212121"/>
                </a:solidFill>
                <a:latin typeface="Calibri"/>
              </a:rPr>
              <a:t>  whitelist + vintage split</a:t>
            </a:r>
          </a:p>
          <a:p>
            <a:pPr algn="l">
              <a:lnSpc>
                <a:spcPct val="100000"/>
              </a:lnSpc>
              <a:spcAft>
                <a:spcPts val="500"/>
              </a:spcAft>
            </a:pPr>
            <a:r>
              <a:rPr sz="1250" b="1" i="0">
                <a:solidFill>
                  <a:srgbClr val="C99B1C"/>
                </a:solidFill>
                <a:latin typeface="Calibri"/>
              </a:rPr>
              <a:t>woe / scorecard</a:t>
            </a:r>
            <a:r>
              <a:rPr sz="1250" b="0" i="0">
                <a:solidFill>
                  <a:srgbClr val="212121"/>
                </a:solidFill>
                <a:latin typeface="Calibri"/>
              </a:rPr>
              <a:t>  binning, IV screen, points</a:t>
            </a:r>
          </a:p>
          <a:p>
            <a:pPr algn="l">
              <a:lnSpc>
                <a:spcPct val="100000"/>
              </a:lnSpc>
              <a:spcAft>
                <a:spcPts val="500"/>
              </a:spcAft>
            </a:pPr>
            <a:r>
              <a:rPr sz="1250" b="1" i="0">
                <a:solidFill>
                  <a:srgbClr val="C99B1C"/>
                </a:solidFill>
                <a:latin typeface="Calibri"/>
              </a:rPr>
              <a:t>models</a:t>
            </a:r>
            <a:r>
              <a:rPr sz="1250" b="0" i="0">
                <a:solidFill>
                  <a:srgbClr val="212121"/>
                </a:solidFill>
                <a:latin typeface="Calibri"/>
              </a:rPr>
              <a:t>  XGBoost, LightGBM, MLP</a:t>
            </a:r>
          </a:p>
          <a:p>
            <a:pPr algn="l">
              <a:lnSpc>
                <a:spcPct val="100000"/>
              </a:lnSpc>
              <a:spcAft>
                <a:spcPts val="500"/>
              </a:spcAft>
            </a:pPr>
            <a:r>
              <a:rPr sz="1250" b="1" i="0">
                <a:solidFill>
                  <a:srgbClr val="C99B1C"/>
                </a:solidFill>
                <a:latin typeface="Calibri"/>
              </a:rPr>
              <a:t>calibration</a:t>
            </a:r>
            <a:r>
              <a:rPr sz="1250" b="0" i="0">
                <a:solidFill>
                  <a:srgbClr val="212121"/>
                </a:solidFill>
                <a:latin typeface="Calibri"/>
              </a:rPr>
              <a:t>  Platt + isotonic on 2014</a:t>
            </a:r>
          </a:p>
          <a:p>
            <a:pPr algn="l">
              <a:lnSpc>
                <a:spcPct val="100000"/>
              </a:lnSpc>
              <a:spcAft>
                <a:spcPts val="500"/>
              </a:spcAft>
            </a:pPr>
            <a:r>
              <a:rPr sz="1250" b="1" i="0">
                <a:solidFill>
                  <a:srgbClr val="C99B1C"/>
                </a:solidFill>
                <a:latin typeface="Calibri"/>
              </a:rPr>
              <a:t>metrics</a:t>
            </a:r>
            <a:r>
              <a:rPr sz="1250" b="0" i="0">
                <a:solidFill>
                  <a:srgbClr val="212121"/>
                </a:solidFill>
                <a:latin typeface="Calibri"/>
              </a:rPr>
              <a:t>  AUC, KS, Brier, ECE, DeLong</a:t>
            </a:r>
          </a:p>
          <a:p>
            <a:pPr algn="l">
              <a:lnSpc>
                <a:spcPct val="100000"/>
              </a:lnSpc>
              <a:spcAft>
                <a:spcPts val="500"/>
              </a:spcAft>
            </a:pPr>
            <a:r>
              <a:rPr sz="1250" b="1" i="0">
                <a:solidFill>
                  <a:srgbClr val="C99B1C"/>
                </a:solidFill>
                <a:latin typeface="Calibri"/>
              </a:rPr>
              <a:t>decision</a:t>
            </a:r>
            <a:r>
              <a:rPr sz="1250" b="0" i="0">
                <a:solidFill>
                  <a:srgbClr val="212121"/>
                </a:solidFill>
                <a:latin typeface="Calibri"/>
              </a:rPr>
              <a:t>  profit sweep over cutoffs</a:t>
            </a:r>
          </a:p>
          <a:p>
            <a:pPr algn="l">
              <a:lnSpc>
                <a:spcPct val="100000"/>
              </a:lnSpc>
              <a:spcAft>
                <a:spcPts val="500"/>
              </a:spcAft>
            </a:pPr>
            <a:r>
              <a:rPr sz="1250" b="1" i="0">
                <a:solidFill>
                  <a:srgbClr val="C99B1C"/>
                </a:solidFill>
                <a:latin typeface="Calibri"/>
              </a:rPr>
              <a:t>pipeline</a:t>
            </a:r>
            <a:r>
              <a:rPr sz="1250" b="0" i="0">
                <a:solidFill>
                  <a:srgbClr val="212121"/>
                </a:solidFill>
                <a:latin typeface="Calibri"/>
              </a:rPr>
              <a:t>  orchestration, 5 seeds each</a:t>
            </a:r>
          </a:p>
        </p:txBody>
      </p:sp>
      <p:sp>
        <p:nvSpPr>
          <p:cNvPr id="7" name="TextBox 6"/>
          <p:cNvSpPr txBox="1"/>
          <p:nvPr/>
        </p:nvSpPr>
        <p:spPr>
          <a:xfrm>
            <a:off x="6309360" y="1645920"/>
            <a:ext cx="5303520" cy="2651760"/>
          </a:xfrm>
          <a:prstGeom prst="rect">
            <a:avLst/>
          </a:prstGeom>
          <a:noFill/>
        </p:spPr>
        <p:txBody>
          <a:bodyPr wrap="square" anchor="t" lIns="0" rIns="0" tIns="0" bIns="0">
            <a:spAutoFit/>
          </a:bodyPr>
          <a:lstStyle/>
          <a:p>
            <a:pPr algn="l">
              <a:lnSpc>
                <a:spcPct val="105000"/>
              </a:lnSpc>
              <a:spcAft>
                <a:spcPts val="900"/>
              </a:spcAft>
            </a:pPr>
            <a:r>
              <a:rPr sz="1350" b="1" i="0">
                <a:solidFill>
                  <a:srgbClr val="1B3A6B"/>
                </a:solidFill>
                <a:latin typeface="Calibri"/>
              </a:rPr>
              <a:t>The baseline is honest:  </a:t>
            </a:r>
            <a:r>
              <a:rPr sz="1350" b="0" i="0">
                <a:solidFill>
                  <a:srgbClr val="212121"/>
                </a:solidFill>
                <a:latin typeface="Calibri"/>
              </a:rPr>
              <a:t>an industry-style WoE scorecard, not a strawman logistic regression on raw inputs.</a:t>
            </a:r>
          </a:p>
          <a:p>
            <a:pPr algn="l">
              <a:lnSpc>
                <a:spcPct val="105000"/>
              </a:lnSpc>
              <a:spcAft>
                <a:spcPts val="900"/>
              </a:spcAft>
            </a:pPr>
            <a:r>
              <a:rPr sz="1350" b="1" i="0">
                <a:solidFill>
                  <a:srgbClr val="1B3A6B"/>
                </a:solidFill>
                <a:latin typeface="Calibri"/>
              </a:rPr>
              <a:t>Same information for everyone:  </a:t>
            </a:r>
            <a:r>
              <a:rPr sz="1350" b="0" i="0">
                <a:solidFill>
                  <a:srgbClr val="212121"/>
                </a:solidFill>
                <a:latin typeface="Calibri"/>
              </a:rPr>
              <a:t>all four models see the identical 23 features; preprocessing cannot explain the gaps.</a:t>
            </a:r>
          </a:p>
          <a:p>
            <a:pPr algn="l">
              <a:lnSpc>
                <a:spcPct val="105000"/>
              </a:lnSpc>
              <a:spcAft>
                <a:spcPts val="900"/>
              </a:spcAft>
            </a:pPr>
            <a:r>
              <a:rPr sz="1350" b="1" i="0">
                <a:solidFill>
                  <a:srgbClr val="1B3A6B"/>
                </a:solidFill>
                <a:latin typeface="Calibri"/>
              </a:rPr>
              <a:t>Calibration is separated from fitting  </a:t>
            </a:r>
            <a:r>
              <a:rPr sz="1350" b="0" i="0">
                <a:solidFill>
                  <a:srgbClr val="212121"/>
                </a:solidFill>
                <a:latin typeface="Calibri"/>
              </a:rPr>
              <a:t>and profit uses real cash flows: repaid loans earn their interest, charged-off lose 65% of principal.</a:t>
            </a:r>
          </a:p>
        </p:txBody>
      </p:sp>
      <p:sp>
        <p:nvSpPr>
          <p:cNvPr id="8" name="Rounded Rectangle 7"/>
          <p:cNvSpPr/>
          <p:nvPr/>
        </p:nvSpPr>
        <p:spPr>
          <a:xfrm>
            <a:off x="548640" y="4480560"/>
            <a:ext cx="5394960" cy="2103120"/>
          </a:xfrm>
          <a:prstGeom prst="roundRect">
            <a:avLst>
              <a:gd name="adj" fmla="val 8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4846320" cy="320040"/>
          </a:xfrm>
          <a:prstGeom prst="rect">
            <a:avLst/>
          </a:prstGeom>
          <a:noFill/>
        </p:spPr>
        <p:txBody>
          <a:bodyPr wrap="square" anchor="t" lIns="0" rIns="0" tIns="0" bIns="0">
            <a:spAutoFit/>
          </a:bodyPr>
          <a:lstStyle/>
          <a:p>
            <a:pPr algn="l">
              <a:lnSpc>
                <a:spcPct val="100000"/>
              </a:lnSpc>
              <a:spcAft>
                <a:spcPts val="600"/>
              </a:spcAft>
            </a:pPr>
            <a:r>
              <a:rPr sz="1450" b="1" i="0">
                <a:solidFill>
                  <a:srgbClr val="1B3A6B"/>
                </a:solidFill>
                <a:latin typeface="Calibri"/>
              </a:rPr>
              <a:t>Kept: 23 origination-time fields</a:t>
            </a:r>
          </a:p>
        </p:txBody>
      </p:sp>
      <p:sp>
        <p:nvSpPr>
          <p:cNvPr id="10" name="TextBox 9"/>
          <p:cNvSpPr txBox="1"/>
          <p:nvPr/>
        </p:nvSpPr>
        <p:spPr>
          <a:xfrm>
            <a:off x="822960" y="4983480"/>
            <a:ext cx="4846320" cy="1463040"/>
          </a:xfrm>
          <a:prstGeom prst="rect">
            <a:avLst/>
          </a:prstGeom>
          <a:noFill/>
        </p:spPr>
        <p:txBody>
          <a:bodyPr wrap="square" anchor="t" lIns="0" rIns="0" tIns="0" bIns="0">
            <a:spAutoFit/>
          </a:bodyPr>
          <a:lstStyle/>
          <a:p>
            <a:pPr algn="l">
              <a:lnSpc>
                <a:spcPct val="100000"/>
              </a:lnSpc>
              <a:spcAft>
                <a:spcPts val="500"/>
              </a:spcAft>
            </a:pPr>
            <a:r>
              <a:rPr sz="1150" b="0" i="0">
                <a:solidFill>
                  <a:srgbClr val="212121"/>
                </a:solidFill>
                <a:latin typeface="Calibri"/>
              </a:rPr>
              <a:t>loan_amnt · term · int_rate · installment · grade · sub_grade</a:t>
            </a:r>
          </a:p>
          <a:p>
            <a:pPr algn="l">
              <a:lnSpc>
                <a:spcPct val="100000"/>
              </a:lnSpc>
              <a:spcAft>
                <a:spcPts val="500"/>
              </a:spcAft>
            </a:pPr>
            <a:r>
              <a:rPr sz="1150" b="0" i="0">
                <a:solidFill>
                  <a:srgbClr val="212121"/>
                </a:solidFill>
                <a:latin typeface="Calibri"/>
              </a:rPr>
              <a:t>annual_inc · dti · emp_length · home_ownership · purpose</a:t>
            </a:r>
          </a:p>
          <a:p>
            <a:pPr algn="l">
              <a:lnSpc>
                <a:spcPct val="100000"/>
              </a:lnSpc>
              <a:spcAft>
                <a:spcPts val="500"/>
              </a:spcAft>
            </a:pPr>
            <a:r>
              <a:rPr sz="1150" b="0" i="0">
                <a:solidFill>
                  <a:srgbClr val="212121"/>
                </a:solidFill>
                <a:latin typeface="Calibri"/>
              </a:rPr>
              <a:t>fico · revol_util · inq_last_6mths · delinq_2yrs · open_acc · revol_bal · total_acc · mort_acc · pub_rec</a:t>
            </a:r>
          </a:p>
        </p:txBody>
      </p:sp>
      <p:sp>
        <p:nvSpPr>
          <p:cNvPr id="11" name="Rounded Rectangle 10"/>
          <p:cNvSpPr/>
          <p:nvPr/>
        </p:nvSpPr>
        <p:spPr>
          <a:xfrm>
            <a:off x="6309360" y="4480560"/>
            <a:ext cx="5303520" cy="2103120"/>
          </a:xfrm>
          <a:prstGeom prst="roundRect">
            <a:avLst>
              <a:gd name="adj" fmla="val 8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4617720"/>
            <a:ext cx="4754880" cy="320040"/>
          </a:xfrm>
          <a:prstGeom prst="rect">
            <a:avLst/>
          </a:prstGeom>
          <a:noFill/>
        </p:spPr>
        <p:txBody>
          <a:bodyPr wrap="square" anchor="t" lIns="0" rIns="0" tIns="0" bIns="0">
            <a:spAutoFit/>
          </a:bodyPr>
          <a:lstStyle/>
          <a:p>
            <a:pPr algn="l">
              <a:lnSpc>
                <a:spcPct val="100000"/>
              </a:lnSpc>
              <a:spcAft>
                <a:spcPts val="600"/>
              </a:spcAft>
            </a:pPr>
            <a:r>
              <a:rPr sz="1450" b="1" i="0">
                <a:solidFill>
                  <a:srgbClr val="A42A2A"/>
                </a:solidFill>
                <a:latin typeface="Calibri"/>
              </a:rPr>
              <a:t>Discarded: 128 columns</a:t>
            </a:r>
          </a:p>
        </p:txBody>
      </p:sp>
      <p:sp>
        <p:nvSpPr>
          <p:cNvPr id="13" name="TextBox 12"/>
          <p:cNvSpPr txBox="1"/>
          <p:nvPr/>
        </p:nvSpPr>
        <p:spPr>
          <a:xfrm>
            <a:off x="6583680" y="4983480"/>
            <a:ext cx="4754880" cy="1463040"/>
          </a:xfrm>
          <a:prstGeom prst="rect">
            <a:avLst/>
          </a:prstGeom>
          <a:noFill/>
        </p:spPr>
        <p:txBody>
          <a:bodyPr wrap="square" anchor="t" lIns="0" rIns="0" tIns="0" bIns="0">
            <a:spAutoFit/>
          </a:bodyPr>
          <a:lstStyle/>
          <a:p>
            <a:pPr algn="l">
              <a:lnSpc>
                <a:spcPct val="100000"/>
              </a:lnSpc>
              <a:spcAft>
                <a:spcPts val="600"/>
              </a:spcAft>
            </a:pPr>
            <a:r>
              <a:rPr sz="1150" b="0" i="0">
                <a:solidFill>
                  <a:srgbClr val="212121"/>
                </a:solidFill>
                <a:latin typeface="Calibri"/>
              </a:rPr>
              <a:t>total_pymnt · total_rec_prncp · recoveries · collection_recovery_fee · last_pymnt_amnt · last_fico_range_high</a:t>
            </a:r>
          </a:p>
          <a:p>
            <a:pPr algn="l">
              <a:lnSpc>
                <a:spcPct val="100000"/>
              </a:lnSpc>
              <a:spcAft>
                <a:spcPts val="600"/>
              </a:spcAft>
            </a:pPr>
            <a:r>
              <a:rPr sz="1150" b="0" i="1">
                <a:solidFill>
                  <a:srgbClr val="212121"/>
                </a:solidFill>
                <a:latin typeface="Calibri"/>
              </a:rPr>
              <a:t>Known only after the loan was funded. </a:t>
            </a:r>
            <a:r>
              <a:rPr sz="1150" b="1" i="0">
                <a:solidFill>
                  <a:srgbClr val="1B3A6B"/>
                </a:solidFill>
                <a:latin typeface="Calibri"/>
              </a:rPr>
              <a:t>total_rec_prncp</a:t>
            </a:r>
            <a:r>
              <a:rPr sz="1150" b="0" i="1">
                <a:solidFill>
                  <a:srgbClr val="212121"/>
                </a:solidFill>
                <a:latin typeface="Calibri"/>
              </a:rPr>
              <a:t> equals the loan amount for every repaid loan: it is the answer, not a feature.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274320"/>
          </a:xfrm>
          <a:prstGeom prst="rect">
            <a:avLst/>
          </a:prstGeom>
          <a:noFill/>
        </p:spPr>
        <p:txBody>
          <a:bodyPr wrap="square" anchor="t" lIns="0" rIns="0" tIns="0" bIns="0">
            <a:spAutoFit/>
          </a:bodyPr>
          <a:lstStyle/>
          <a:p>
            <a:pPr algn="l">
              <a:lnSpc>
                <a:spcPct val="100000"/>
              </a:lnSpc>
              <a:spcAft>
                <a:spcPts val="600"/>
              </a:spcAft>
            </a:pPr>
            <a:r>
              <a:rPr sz="1300" b="1" i="0">
                <a:solidFill>
                  <a:srgbClr val="C99B1C"/>
                </a:solidFill>
                <a:latin typeface="Calibri"/>
              </a:rPr>
              <a:t>EVALUATION</a:t>
            </a:r>
          </a:p>
        </p:txBody>
      </p:sp>
      <p:sp>
        <p:nvSpPr>
          <p:cNvPr id="3" name="TextBox 2"/>
          <p:cNvSpPr txBox="1"/>
          <p:nvPr/>
        </p:nvSpPr>
        <p:spPr>
          <a:xfrm>
            <a:off x="548640" y="621792"/>
            <a:ext cx="11064240" cy="685800"/>
          </a:xfrm>
          <a:prstGeom prst="rect">
            <a:avLst/>
          </a:prstGeom>
          <a:noFill/>
        </p:spPr>
        <p:txBody>
          <a:bodyPr wrap="square" anchor="t" lIns="0" rIns="0" tIns="0" bIns="0">
            <a:spAutoFit/>
          </a:bodyPr>
          <a:lstStyle/>
          <a:p>
            <a:pPr algn="l">
              <a:lnSpc>
                <a:spcPct val="100000"/>
              </a:lnSpc>
              <a:spcAft>
                <a:spcPts val="600"/>
              </a:spcAft>
            </a:pPr>
            <a:r>
              <a:rPr sz="3200" b="1" i="0">
                <a:solidFill>
                  <a:srgbClr val="1B3A6B"/>
                </a:solidFill>
                <a:latin typeface="Calibri"/>
              </a:rPr>
              <a:t>Three Questions, Each With Its Own Metrics</a:t>
            </a:r>
          </a:p>
        </p:txBody>
      </p:sp>
      <p:sp>
        <p:nvSpPr>
          <p:cNvPr id="4" name="Rounded Rectangle 3"/>
          <p:cNvSpPr/>
          <p:nvPr/>
        </p:nvSpPr>
        <p:spPr>
          <a:xfrm>
            <a:off x="548640" y="1737360"/>
            <a:ext cx="11064240" cy="1234440"/>
          </a:xfrm>
          <a:prstGeom prst="roundRect">
            <a:avLst>
              <a:gd name="adj" fmla="val 8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83664"/>
            <a:ext cx="3200400" cy="960120"/>
          </a:xfrm>
          <a:prstGeom prst="rect">
            <a:avLst/>
          </a:prstGeom>
          <a:noFill/>
        </p:spPr>
        <p:txBody>
          <a:bodyPr wrap="square" anchor="t" lIns="0" rIns="0" tIns="0" bIns="0">
            <a:spAutoFit/>
          </a:bodyPr>
          <a:lstStyle/>
          <a:p>
            <a:pPr algn="l">
              <a:lnSpc>
                <a:spcPct val="100000"/>
              </a:lnSpc>
              <a:spcAft>
                <a:spcPts val="600"/>
              </a:spcAft>
            </a:pPr>
            <a:r>
              <a:rPr sz="1650" b="1" i="0">
                <a:solidFill>
                  <a:srgbClr val="1B3A6B"/>
                </a:solidFill>
                <a:latin typeface="Calibri"/>
              </a:rPr>
              <a:t>Discrimination: AUC, KS</a:t>
            </a:r>
          </a:p>
        </p:txBody>
      </p:sp>
      <p:sp>
        <p:nvSpPr>
          <p:cNvPr id="6" name="TextBox 5"/>
          <p:cNvSpPr txBox="1"/>
          <p:nvPr/>
        </p:nvSpPr>
        <p:spPr>
          <a:xfrm>
            <a:off x="4206240" y="1865376"/>
            <a:ext cx="7040880" cy="1005840"/>
          </a:xfrm>
          <a:prstGeom prst="rect">
            <a:avLst/>
          </a:prstGeom>
          <a:noFill/>
        </p:spPr>
        <p:txBody>
          <a:bodyPr wrap="square" anchor="t" lIns="0" rIns="0" tIns="0" bIns="0">
            <a:spAutoFit/>
          </a:bodyPr>
          <a:lstStyle/>
          <a:p>
            <a:pPr algn="l">
              <a:lnSpc>
                <a:spcPct val="100000"/>
              </a:lnSpc>
              <a:spcAft>
                <a:spcPts val="600"/>
              </a:spcAft>
            </a:pPr>
            <a:r>
              <a:rPr sz="1350" b="0" i="0">
                <a:solidFill>
                  <a:srgbClr val="212121"/>
                </a:solidFill>
                <a:latin typeface="Calibri"/>
              </a:rPr>
              <a:t>AUC, the area under the receiver operating characteristic curve: the probability a random defaulter is ranked riskier than a random good borrower. KS, Kolmogorov-Smirnov: the maximum distance between the two score distributions. Both ignore whether the PD values themselves are right.</a:t>
            </a:r>
          </a:p>
        </p:txBody>
      </p:sp>
      <p:sp>
        <p:nvSpPr>
          <p:cNvPr id="7" name="Rounded Rectangle 6"/>
          <p:cNvSpPr/>
          <p:nvPr/>
        </p:nvSpPr>
        <p:spPr>
          <a:xfrm>
            <a:off x="548640" y="3154680"/>
            <a:ext cx="11064240" cy="1234440"/>
          </a:xfrm>
          <a:prstGeom prst="roundRect">
            <a:avLst>
              <a:gd name="adj" fmla="val 8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300984"/>
            <a:ext cx="3200400" cy="960120"/>
          </a:xfrm>
          <a:prstGeom prst="rect">
            <a:avLst/>
          </a:prstGeom>
          <a:noFill/>
        </p:spPr>
        <p:txBody>
          <a:bodyPr wrap="square" anchor="t" lIns="0" rIns="0" tIns="0" bIns="0">
            <a:spAutoFit/>
          </a:bodyPr>
          <a:lstStyle/>
          <a:p>
            <a:pPr algn="l">
              <a:lnSpc>
                <a:spcPct val="100000"/>
              </a:lnSpc>
              <a:spcAft>
                <a:spcPts val="600"/>
              </a:spcAft>
            </a:pPr>
            <a:r>
              <a:rPr sz="1650" b="1" i="0">
                <a:solidFill>
                  <a:srgbClr val="1B3A6B"/>
                </a:solidFill>
                <a:latin typeface="Calibri"/>
              </a:rPr>
              <a:t>Calibration: Brier, ECE, reliability</a:t>
            </a:r>
          </a:p>
        </p:txBody>
      </p:sp>
      <p:sp>
        <p:nvSpPr>
          <p:cNvPr id="9" name="TextBox 8"/>
          <p:cNvSpPr txBox="1"/>
          <p:nvPr/>
        </p:nvSpPr>
        <p:spPr>
          <a:xfrm>
            <a:off x="4206240" y="3282696"/>
            <a:ext cx="7040880" cy="1005840"/>
          </a:xfrm>
          <a:prstGeom prst="rect">
            <a:avLst/>
          </a:prstGeom>
          <a:noFill/>
        </p:spPr>
        <p:txBody>
          <a:bodyPr wrap="square" anchor="t" lIns="0" rIns="0" tIns="0" bIns="0">
            <a:spAutoFit/>
          </a:bodyPr>
          <a:lstStyle/>
          <a:p>
            <a:pPr algn="l">
              <a:lnSpc>
                <a:spcPct val="100000"/>
              </a:lnSpc>
              <a:spcAft>
                <a:spcPts val="600"/>
              </a:spcAft>
            </a:pPr>
            <a:r>
              <a:rPr sz="1350" b="0" i="0">
                <a:solidFill>
                  <a:srgbClr val="212121"/>
                </a:solidFill>
                <a:latin typeface="Calibri"/>
              </a:rPr>
              <a:t>Among loans assigned PD near q, do a fraction q actually default? Brier: mean squared error of the probability. ECE: average gap between predicted PD and observed default rate over 10 bins.</a:t>
            </a:r>
          </a:p>
        </p:txBody>
      </p:sp>
      <p:sp>
        <p:nvSpPr>
          <p:cNvPr id="10" name="Rounded Rectangle 9"/>
          <p:cNvSpPr/>
          <p:nvPr/>
        </p:nvSpPr>
        <p:spPr>
          <a:xfrm>
            <a:off x="548640" y="4572000"/>
            <a:ext cx="11064240" cy="1234440"/>
          </a:xfrm>
          <a:prstGeom prst="roundRect">
            <a:avLst>
              <a:gd name="adj" fmla="val 8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718304"/>
            <a:ext cx="3200400" cy="960120"/>
          </a:xfrm>
          <a:prstGeom prst="rect">
            <a:avLst/>
          </a:prstGeom>
          <a:noFill/>
        </p:spPr>
        <p:txBody>
          <a:bodyPr wrap="square" anchor="t" lIns="0" rIns="0" tIns="0" bIns="0">
            <a:spAutoFit/>
          </a:bodyPr>
          <a:lstStyle/>
          <a:p>
            <a:pPr algn="l">
              <a:lnSpc>
                <a:spcPct val="100000"/>
              </a:lnSpc>
              <a:spcAft>
                <a:spcPts val="600"/>
              </a:spcAft>
            </a:pPr>
            <a:r>
              <a:rPr sz="1650" b="1" i="0">
                <a:solidFill>
                  <a:srgbClr val="1B3A6B"/>
                </a:solidFill>
                <a:latin typeface="Calibri"/>
              </a:rPr>
              <a:t>Decision quality: profit, with significance</a:t>
            </a:r>
          </a:p>
        </p:txBody>
      </p:sp>
      <p:sp>
        <p:nvSpPr>
          <p:cNvPr id="12" name="TextBox 11"/>
          <p:cNvSpPr txBox="1"/>
          <p:nvPr/>
        </p:nvSpPr>
        <p:spPr>
          <a:xfrm>
            <a:off x="4206240" y="4700016"/>
            <a:ext cx="7040880" cy="1005840"/>
          </a:xfrm>
          <a:prstGeom prst="rect">
            <a:avLst/>
          </a:prstGeom>
          <a:noFill/>
        </p:spPr>
        <p:txBody>
          <a:bodyPr wrap="square" anchor="t" lIns="0" rIns="0" tIns="0" bIns="0">
            <a:spAutoFit/>
          </a:bodyPr>
          <a:lstStyle/>
          <a:p>
            <a:pPr algn="l">
              <a:lnSpc>
                <a:spcPct val="100000"/>
              </a:lnSpc>
              <a:spcAft>
                <a:spcPts val="600"/>
              </a:spcAft>
            </a:pPr>
            <a:r>
              <a:rPr sz="1350" b="0" i="0">
                <a:solidFill>
                  <a:srgbClr val="212121"/>
                </a:solidFill>
                <a:latin typeface="Calibri"/>
              </a:rPr>
              <a:t>Realized profit per 1,000 applicants across accept/reject cutoffs, from actual cash flows. Significance throughout: DeLong test for correlated AUCs, 1,000-resample bootstrap CIs.</a:t>
            </a:r>
          </a:p>
        </p:txBody>
      </p:sp>
      <p:sp>
        <p:nvSpPr>
          <p:cNvPr id="13" name="TextBox 12"/>
          <p:cNvSpPr txBox="1"/>
          <p:nvPr/>
        </p:nvSpPr>
        <p:spPr>
          <a:xfrm>
            <a:off x="548640" y="6126480"/>
            <a:ext cx="11064240" cy="457200"/>
          </a:xfrm>
          <a:prstGeom prst="rect">
            <a:avLst/>
          </a:prstGeom>
          <a:noFill/>
        </p:spPr>
        <p:txBody>
          <a:bodyPr wrap="square" anchor="t" lIns="0" rIns="0" tIns="0" bIns="0">
            <a:spAutoFit/>
          </a:bodyPr>
          <a:lstStyle/>
          <a:p>
            <a:pPr algn="l">
              <a:lnSpc>
                <a:spcPct val="100000"/>
              </a:lnSpc>
              <a:spcAft>
                <a:spcPts val="600"/>
              </a:spcAft>
            </a:pPr>
            <a:r>
              <a:rPr sz="1500" b="1" i="0">
                <a:solidFill>
                  <a:srgbClr val="1B3A6B"/>
                </a:solidFill>
                <a:latin typeface="Calibri"/>
              </a:rPr>
              <a:t>Why three?  </a:t>
            </a:r>
            <a:r>
              <a:rPr sz="1500" b="0" i="0">
                <a:solidFill>
                  <a:srgbClr val="212121"/>
                </a:solidFill>
                <a:latin typeface="Calibri"/>
              </a:rPr>
              <a:t>A model can gain AUC while its probabilities become less trustworthy; 'best model' is undefined until the question is fixed.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274320"/>
          </a:xfrm>
          <a:prstGeom prst="rect">
            <a:avLst/>
          </a:prstGeom>
          <a:noFill/>
        </p:spPr>
        <p:txBody>
          <a:bodyPr wrap="square" anchor="t" lIns="0" rIns="0" tIns="0" bIns="0">
            <a:spAutoFit/>
          </a:bodyPr>
          <a:lstStyle/>
          <a:p>
            <a:pPr algn="l">
              <a:lnSpc>
                <a:spcPct val="100000"/>
              </a:lnSpc>
              <a:spcAft>
                <a:spcPts val="600"/>
              </a:spcAft>
            </a:pPr>
            <a:r>
              <a:rPr sz="1300" b="1" i="0">
                <a:solidFill>
                  <a:srgbClr val="C99B1C"/>
                </a:solidFill>
                <a:latin typeface="Calibri"/>
              </a:rPr>
              <a:t>RESULTS 1 OF 4</a:t>
            </a:r>
          </a:p>
        </p:txBody>
      </p:sp>
      <p:sp>
        <p:nvSpPr>
          <p:cNvPr id="3" name="TextBox 2"/>
          <p:cNvSpPr txBox="1"/>
          <p:nvPr/>
        </p:nvSpPr>
        <p:spPr>
          <a:xfrm>
            <a:off x="548640" y="621792"/>
            <a:ext cx="11064240" cy="685800"/>
          </a:xfrm>
          <a:prstGeom prst="rect">
            <a:avLst/>
          </a:prstGeom>
          <a:noFill/>
        </p:spPr>
        <p:txBody>
          <a:bodyPr wrap="square" anchor="t" lIns="0" rIns="0" tIns="0" bIns="0">
            <a:spAutoFit/>
          </a:bodyPr>
          <a:lstStyle/>
          <a:p>
            <a:pPr algn="l">
              <a:lnSpc>
                <a:spcPct val="100000"/>
              </a:lnSpc>
              <a:spcAft>
                <a:spcPts val="600"/>
              </a:spcAft>
            </a:pPr>
            <a:r>
              <a:rPr sz="3200" b="1" i="0">
                <a:solidFill>
                  <a:srgbClr val="1B3A6B"/>
                </a:solidFill>
                <a:latin typeface="Calibri"/>
              </a:rPr>
              <a:t>Discrimination: the Trees Win, the Neural Net Loses</a:t>
            </a:r>
          </a:p>
        </p:txBody>
      </p:sp>
      <p:graphicFrame>
        <p:nvGraphicFramePr>
          <p:cNvPr id="4" name="Table 3"/>
          <p:cNvGraphicFramePr>
            <a:graphicFrameLocks noGrp="1"/>
          </p:cNvGraphicFramePr>
          <p:nvPr/>
        </p:nvGraphicFramePr>
        <p:xfrm>
          <a:off x="548640" y="1737360"/>
          <a:ext cx="6949440" cy="2834640"/>
        </p:xfrm>
        <a:graphic>
          <a:graphicData uri="http://schemas.openxmlformats.org/drawingml/2006/table">
            <a:tbl>
              <a:tblPr firstRow="1" bandRow="1">
                <a:tableStyleId>{5C22544A-7EE6-4342-B048-85BDC9FD1C3A}</a:tableStyleId>
              </a:tblPr>
              <a:tblGrid>
                <a:gridCol w="1737360"/>
                <a:gridCol w="1188720"/>
                <a:gridCol w="1188720"/>
                <a:gridCol w="2834640"/>
              </a:tblGrid>
              <a:tr h="566928">
                <a:tc>
                  <a:txBody>
                    <a:bodyPr/>
                    <a:lstStyle/>
                    <a:p>
                      <a:r>
                        <a:rPr b="1" sz="1400">
                          <a:solidFill>
                            <a:srgbClr val="FFFFFF"/>
                          </a:solidFill>
                          <a:latin typeface="Calibri"/>
                        </a:rPr>
                        <a:t>Model</a:t>
                      </a:r>
                    </a:p>
                  </a:txBody>
                  <a:tcPr>
                    <a:solidFill>
                      <a:srgbClr val="1B3A6B"/>
                    </a:solidFill>
                  </a:tcPr>
                </a:tc>
                <a:tc>
                  <a:txBody>
                    <a:bodyPr/>
                    <a:lstStyle/>
                    <a:p>
                      <a:r>
                        <a:rPr b="1" sz="1400">
                          <a:solidFill>
                            <a:srgbClr val="FFFFFF"/>
                          </a:solidFill>
                          <a:latin typeface="Calibri"/>
                        </a:rPr>
                        <a:t>AUC</a:t>
                      </a:r>
                    </a:p>
                  </a:txBody>
                  <a:tcPr>
                    <a:solidFill>
                      <a:srgbClr val="1B3A6B"/>
                    </a:solidFill>
                  </a:tcPr>
                </a:tc>
                <a:tc>
                  <a:txBody>
                    <a:bodyPr/>
                    <a:lstStyle/>
                    <a:p>
                      <a:r>
                        <a:rPr b="1" sz="1400">
                          <a:solidFill>
                            <a:srgbClr val="FFFFFF"/>
                          </a:solidFill>
                          <a:latin typeface="Calibri"/>
                        </a:rPr>
                        <a:t>KS</a:t>
                      </a:r>
                    </a:p>
                  </a:txBody>
                  <a:tcPr>
                    <a:solidFill>
                      <a:srgbClr val="1B3A6B"/>
                    </a:solidFill>
                  </a:tcPr>
                </a:tc>
                <a:tc>
                  <a:txBody>
                    <a:bodyPr/>
                    <a:lstStyle/>
                    <a:p>
                      <a:r>
                        <a:rPr b="1" sz="1400">
                          <a:solidFill>
                            <a:srgbClr val="FFFFFF"/>
                          </a:solidFill>
                          <a:latin typeface="Calibri"/>
                        </a:rPr>
                        <a:t>ΔAUC vs scorecard (DeLong)</a:t>
                      </a:r>
                    </a:p>
                  </a:txBody>
                  <a:tcPr>
                    <a:solidFill>
                      <a:srgbClr val="1B3A6B"/>
                    </a:solidFill>
                  </a:tcPr>
                </a:tc>
              </a:tr>
              <a:tr h="566928">
                <a:tc>
                  <a:txBody>
                    <a:bodyPr/>
                    <a:lstStyle/>
                    <a:p>
                      <a:r>
                        <a:rPr sz="1450" b="1">
                          <a:solidFill>
                            <a:srgbClr val="212121"/>
                          </a:solidFill>
                          <a:latin typeface="Calibri"/>
                        </a:rPr>
                        <a:t>Scorecard</a:t>
                      </a:r>
                    </a:p>
                  </a:txBody>
                  <a:tcPr>
                    <a:solidFill>
                      <a:srgbClr val="EDF1F7"/>
                    </a:solidFill>
                  </a:tcPr>
                </a:tc>
                <a:tc>
                  <a:txBody>
                    <a:bodyPr/>
                    <a:lstStyle/>
                    <a:p>
                      <a:r>
                        <a:rPr sz="1450" b="0">
                          <a:solidFill>
                            <a:srgbClr val="212121"/>
                          </a:solidFill>
                          <a:latin typeface="Calibri"/>
                        </a:rPr>
                        <a:t>0.6767</a:t>
                      </a:r>
                    </a:p>
                  </a:txBody>
                  <a:tcPr>
                    <a:solidFill>
                      <a:srgbClr val="EDF1F7"/>
                    </a:solidFill>
                  </a:tcPr>
                </a:tc>
                <a:tc>
                  <a:txBody>
                    <a:bodyPr/>
                    <a:lstStyle/>
                    <a:p>
                      <a:r>
                        <a:rPr sz="1450" b="0">
                          <a:solidFill>
                            <a:srgbClr val="212121"/>
                          </a:solidFill>
                          <a:latin typeface="Calibri"/>
                        </a:rPr>
                        <a:t>0.2570</a:t>
                      </a:r>
                    </a:p>
                  </a:txBody>
                  <a:tcPr>
                    <a:solidFill>
                      <a:srgbClr val="EDF1F7"/>
                    </a:solidFill>
                  </a:tcPr>
                </a:tc>
                <a:tc>
                  <a:txBody>
                    <a:bodyPr/>
                    <a:lstStyle/>
                    <a:p>
                      <a:r>
                        <a:rPr sz="1450" b="0">
                          <a:solidFill>
                            <a:srgbClr val="212121"/>
                          </a:solidFill>
                          <a:latin typeface="Calibri"/>
                        </a:rPr>
                        <a:t>baseline</a:t>
                      </a:r>
                    </a:p>
                  </a:txBody>
                  <a:tcPr>
                    <a:solidFill>
                      <a:srgbClr val="EDF1F7"/>
                    </a:solidFill>
                  </a:tcPr>
                </a:tc>
              </a:tr>
              <a:tr h="566928">
                <a:tc>
                  <a:txBody>
                    <a:bodyPr/>
                    <a:lstStyle/>
                    <a:p>
                      <a:r>
                        <a:rPr sz="1450" b="1">
                          <a:solidFill>
                            <a:srgbClr val="212121"/>
                          </a:solidFill>
                          <a:latin typeface="Calibri"/>
                        </a:rPr>
                        <a:t>XGBoost</a:t>
                      </a:r>
                    </a:p>
                  </a:txBody>
                  <a:tcPr>
                    <a:solidFill>
                      <a:srgbClr val="FFFFFF"/>
                    </a:solidFill>
                  </a:tcPr>
                </a:tc>
                <a:tc>
                  <a:txBody>
                    <a:bodyPr/>
                    <a:lstStyle/>
                    <a:p>
                      <a:r>
                        <a:rPr sz="1450" b="0">
                          <a:solidFill>
                            <a:srgbClr val="212121"/>
                          </a:solidFill>
                          <a:latin typeface="Calibri"/>
                        </a:rPr>
                        <a:t>0.6850</a:t>
                      </a:r>
                    </a:p>
                  </a:txBody>
                  <a:tcPr>
                    <a:solidFill>
                      <a:srgbClr val="FFFFFF"/>
                    </a:solidFill>
                  </a:tcPr>
                </a:tc>
                <a:tc>
                  <a:txBody>
                    <a:bodyPr/>
                    <a:lstStyle/>
                    <a:p>
                      <a:r>
                        <a:rPr sz="1450" b="0">
                          <a:solidFill>
                            <a:srgbClr val="212121"/>
                          </a:solidFill>
                          <a:latin typeface="Calibri"/>
                        </a:rPr>
                        <a:t>0.2701</a:t>
                      </a:r>
                    </a:p>
                  </a:txBody>
                  <a:tcPr>
                    <a:solidFill>
                      <a:srgbClr val="FFFFFF"/>
                    </a:solidFill>
                  </a:tcPr>
                </a:tc>
                <a:tc>
                  <a:txBody>
                    <a:bodyPr/>
                    <a:lstStyle/>
                    <a:p>
                      <a:r>
                        <a:rPr sz="1450" b="0">
                          <a:solidFill>
                            <a:srgbClr val="1B7A4B"/>
                          </a:solidFill>
                          <a:latin typeface="Calibri"/>
                        </a:rPr>
                        <a:t>+0.85 pts,  p &lt; 10⁻⁵⁴</a:t>
                      </a:r>
                    </a:p>
                  </a:txBody>
                  <a:tcPr>
                    <a:solidFill>
                      <a:srgbClr val="FFFFFF"/>
                    </a:solidFill>
                  </a:tcPr>
                </a:tc>
              </a:tr>
              <a:tr h="566928">
                <a:tc>
                  <a:txBody>
                    <a:bodyPr/>
                    <a:lstStyle/>
                    <a:p>
                      <a:r>
                        <a:rPr sz="1450" b="1">
                          <a:solidFill>
                            <a:srgbClr val="212121"/>
                          </a:solidFill>
                          <a:latin typeface="Calibri"/>
                        </a:rPr>
                        <a:t>LightGBM</a:t>
                      </a:r>
                    </a:p>
                  </a:txBody>
                  <a:tcPr>
                    <a:solidFill>
                      <a:srgbClr val="EDF1F7"/>
                    </a:solidFill>
                  </a:tcPr>
                </a:tc>
                <a:tc>
                  <a:txBody>
                    <a:bodyPr/>
                    <a:lstStyle/>
                    <a:p>
                      <a:r>
                        <a:rPr sz="1450" b="0">
                          <a:solidFill>
                            <a:srgbClr val="212121"/>
                          </a:solidFill>
                          <a:latin typeface="Calibri"/>
                        </a:rPr>
                        <a:t>0.6843</a:t>
                      </a:r>
                    </a:p>
                  </a:txBody>
                  <a:tcPr>
                    <a:solidFill>
                      <a:srgbClr val="EDF1F7"/>
                    </a:solidFill>
                  </a:tcPr>
                </a:tc>
                <a:tc>
                  <a:txBody>
                    <a:bodyPr/>
                    <a:lstStyle/>
                    <a:p>
                      <a:r>
                        <a:rPr sz="1450" b="0">
                          <a:solidFill>
                            <a:srgbClr val="212121"/>
                          </a:solidFill>
                          <a:latin typeface="Calibri"/>
                        </a:rPr>
                        <a:t>0.2693</a:t>
                      </a:r>
                    </a:p>
                  </a:txBody>
                  <a:tcPr>
                    <a:solidFill>
                      <a:srgbClr val="EDF1F7"/>
                    </a:solidFill>
                  </a:tcPr>
                </a:tc>
                <a:tc>
                  <a:txBody>
                    <a:bodyPr/>
                    <a:lstStyle/>
                    <a:p>
                      <a:r>
                        <a:rPr sz="1450" b="0">
                          <a:solidFill>
                            <a:srgbClr val="1B7A4B"/>
                          </a:solidFill>
                          <a:latin typeface="Calibri"/>
                        </a:rPr>
                        <a:t>+0.72 pts,  p &lt; 10⁻⁴⁸</a:t>
                      </a:r>
                    </a:p>
                  </a:txBody>
                  <a:tcPr>
                    <a:solidFill>
                      <a:srgbClr val="EDF1F7"/>
                    </a:solidFill>
                  </a:tcPr>
                </a:tc>
              </a:tr>
              <a:tr h="566928">
                <a:tc>
                  <a:txBody>
                    <a:bodyPr/>
                    <a:lstStyle/>
                    <a:p>
                      <a:r>
                        <a:rPr sz="1450" b="1">
                          <a:solidFill>
                            <a:srgbClr val="212121"/>
                          </a:solidFill>
                          <a:latin typeface="Calibri"/>
                        </a:rPr>
                        <a:t>MLP</a:t>
                      </a:r>
                    </a:p>
                  </a:txBody>
                  <a:tcPr>
                    <a:solidFill>
                      <a:srgbClr val="FFFFFF"/>
                    </a:solidFill>
                  </a:tcPr>
                </a:tc>
                <a:tc>
                  <a:txBody>
                    <a:bodyPr/>
                    <a:lstStyle/>
                    <a:p>
                      <a:r>
                        <a:rPr sz="1450" b="0">
                          <a:solidFill>
                            <a:srgbClr val="212121"/>
                          </a:solidFill>
                          <a:latin typeface="Calibri"/>
                        </a:rPr>
                        <a:t>0.6716</a:t>
                      </a:r>
                    </a:p>
                  </a:txBody>
                  <a:tcPr>
                    <a:solidFill>
                      <a:srgbClr val="FFFFFF"/>
                    </a:solidFill>
                  </a:tcPr>
                </a:tc>
                <a:tc>
                  <a:txBody>
                    <a:bodyPr/>
                    <a:lstStyle/>
                    <a:p>
                      <a:r>
                        <a:rPr sz="1450" b="0">
                          <a:solidFill>
                            <a:srgbClr val="212121"/>
                          </a:solidFill>
                          <a:latin typeface="Calibri"/>
                        </a:rPr>
                        <a:t>0.2542</a:t>
                      </a:r>
                    </a:p>
                  </a:txBody>
                  <a:tcPr>
                    <a:solidFill>
                      <a:srgbClr val="FFFFFF"/>
                    </a:solidFill>
                  </a:tcPr>
                </a:tc>
                <a:tc>
                  <a:txBody>
                    <a:bodyPr/>
                    <a:lstStyle/>
                    <a:p>
                      <a:r>
                        <a:rPr sz="1450" b="0">
                          <a:solidFill>
                            <a:srgbClr val="A42A2A"/>
                          </a:solidFill>
                          <a:latin typeface="Calibri"/>
                        </a:rPr>
                        <a:t>−0.17 pts,  p = 0.024 (worse)</a:t>
                      </a:r>
                    </a:p>
                  </a:txBody>
                  <a:tcPr>
                    <a:solidFill>
                      <a:srgbClr val="FFFFFF"/>
                    </a:solidFill>
                  </a:tcPr>
                </a:tc>
              </a:tr>
            </a:tbl>
          </a:graphicData>
        </a:graphic>
      </p:graphicFrame>
      <p:sp>
        <p:nvSpPr>
          <p:cNvPr id="5" name="TextBox 4"/>
          <p:cNvSpPr txBox="1"/>
          <p:nvPr/>
        </p:nvSpPr>
        <p:spPr>
          <a:xfrm>
            <a:off x="7863840" y="1828800"/>
            <a:ext cx="3840480" cy="3931920"/>
          </a:xfrm>
          <a:prstGeom prst="rect">
            <a:avLst/>
          </a:prstGeom>
          <a:noFill/>
        </p:spPr>
        <p:txBody>
          <a:bodyPr wrap="square" anchor="t" lIns="0" rIns="0" tIns="0" bIns="0">
            <a:spAutoFit/>
          </a:bodyPr>
          <a:lstStyle/>
          <a:p>
            <a:pPr algn="l">
              <a:lnSpc>
                <a:spcPct val="105000"/>
              </a:lnSpc>
              <a:spcAft>
                <a:spcPts val="1200"/>
              </a:spcAft>
            </a:pPr>
            <a:r>
              <a:rPr sz="1450" b="1" i="0">
                <a:solidFill>
                  <a:srgbClr val="1B3A6B"/>
                </a:solidFill>
                <a:latin typeface="Calibri"/>
              </a:rPr>
              <a:t>Statistically decisive:  </a:t>
            </a:r>
            <a:r>
              <a:rPr sz="1450" b="0" i="0">
                <a:solidFill>
                  <a:srgbClr val="212121"/>
                </a:solidFill>
                <a:latin typeface="Calibri"/>
              </a:rPr>
              <a:t>283,026 test loans give enormous power; the boosted-tree edge is unambiguous.</a:t>
            </a:r>
          </a:p>
          <a:p>
            <a:pPr algn="l">
              <a:lnSpc>
                <a:spcPct val="105000"/>
              </a:lnSpc>
              <a:spcAft>
                <a:spcPts val="1200"/>
              </a:spcAft>
            </a:pPr>
            <a:r>
              <a:rPr sz="1450" b="1" i="0">
                <a:solidFill>
                  <a:srgbClr val="1B3A6B"/>
                </a:solidFill>
                <a:latin typeface="Calibri"/>
              </a:rPr>
              <a:t>Economically modest:  </a:t>
            </a:r>
            <a:r>
              <a:rPr sz="1450" b="0" i="0">
                <a:solidFill>
                  <a:srgbClr val="212121"/>
                </a:solidFill>
                <a:latin typeface="Calibri"/>
              </a:rPr>
              <a:t>+0.85 AUC points, not the +8 to +15 sometimes quoted from random-split studies.</a:t>
            </a:r>
          </a:p>
          <a:p>
            <a:pPr algn="l">
              <a:lnSpc>
                <a:spcPct val="105000"/>
              </a:lnSpc>
              <a:spcAft>
                <a:spcPts val="1200"/>
              </a:spcAft>
            </a:pPr>
            <a:r>
              <a:rPr sz="1450" b="1" i="0">
                <a:solidFill>
                  <a:srgbClr val="1B3A6B"/>
                </a:solidFill>
                <a:latin typeface="Calibri"/>
              </a:rPr>
              <a:t>Deep learning does not pay:  </a:t>
            </a:r>
            <a:r>
              <a:rPr sz="1450" b="0" i="0">
                <a:solidFill>
                  <a:srgbClr val="212121"/>
                </a:solidFill>
                <a:latin typeface="Calibri"/>
              </a:rPr>
              <a:t>the MLP is significantly worse than the forty-year-old scorecard, on tabular credit data.</a:t>
            </a:r>
          </a:p>
        </p:txBody>
      </p:sp>
      <p:sp>
        <p:nvSpPr>
          <p:cNvPr id="6" name="TextBox 5"/>
          <p:cNvSpPr txBox="1"/>
          <p:nvPr/>
        </p:nvSpPr>
        <p:spPr>
          <a:xfrm>
            <a:off x="548640" y="4937760"/>
            <a:ext cx="6949440" cy="1097280"/>
          </a:xfrm>
          <a:prstGeom prst="rect">
            <a:avLst/>
          </a:prstGeom>
          <a:noFill/>
        </p:spPr>
        <p:txBody>
          <a:bodyPr wrap="square" anchor="t" lIns="0" rIns="0" tIns="0" bIns="0">
            <a:spAutoFit/>
          </a:bodyPr>
          <a:lstStyle/>
          <a:p>
            <a:pPr algn="l">
              <a:lnSpc>
                <a:spcPct val="100000"/>
              </a:lnSpc>
              <a:spcAft>
                <a:spcPts val="600"/>
              </a:spcAft>
            </a:pPr>
            <a:r>
              <a:rPr sz="1450" b="1" i="0">
                <a:solidFill>
                  <a:srgbClr val="1B3A6B"/>
                </a:solidFill>
                <a:latin typeface="Calibri"/>
              </a:rPr>
              <a:t>Why so close?  </a:t>
            </a:r>
            <a:r>
              <a:rPr sz="1450" b="0" i="0">
                <a:solidFill>
                  <a:srgbClr val="212121"/>
                </a:solidFill>
                <a:latin typeface="Calibri"/>
              </a:rPr>
              <a:t>The features include the platform's own risk pricing (grade, interest rate), and the out-of-time split denies flexible models the flattery of a random split.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274320"/>
          </a:xfrm>
          <a:prstGeom prst="rect">
            <a:avLst/>
          </a:prstGeom>
          <a:noFill/>
        </p:spPr>
        <p:txBody>
          <a:bodyPr wrap="square" anchor="t" lIns="0" rIns="0" tIns="0" bIns="0">
            <a:spAutoFit/>
          </a:bodyPr>
          <a:lstStyle/>
          <a:p>
            <a:pPr algn="l">
              <a:lnSpc>
                <a:spcPct val="100000"/>
              </a:lnSpc>
              <a:spcAft>
                <a:spcPts val="600"/>
              </a:spcAft>
            </a:pPr>
            <a:r>
              <a:rPr sz="1300" b="1" i="0">
                <a:solidFill>
                  <a:srgbClr val="C99B1C"/>
                </a:solidFill>
                <a:latin typeface="Calibri"/>
              </a:rPr>
              <a:t>RESULTS 2 OF 4</a:t>
            </a:r>
          </a:p>
        </p:txBody>
      </p:sp>
      <p:sp>
        <p:nvSpPr>
          <p:cNvPr id="3" name="TextBox 2"/>
          <p:cNvSpPr txBox="1"/>
          <p:nvPr/>
        </p:nvSpPr>
        <p:spPr>
          <a:xfrm>
            <a:off x="548640" y="621792"/>
            <a:ext cx="11064240" cy="685800"/>
          </a:xfrm>
          <a:prstGeom prst="rect">
            <a:avLst/>
          </a:prstGeom>
          <a:noFill/>
        </p:spPr>
        <p:txBody>
          <a:bodyPr wrap="square" anchor="t" lIns="0" rIns="0" tIns="0" bIns="0">
            <a:spAutoFit/>
          </a:bodyPr>
          <a:lstStyle/>
          <a:p>
            <a:pPr algn="l">
              <a:lnSpc>
                <a:spcPct val="100000"/>
              </a:lnSpc>
              <a:spcAft>
                <a:spcPts val="600"/>
              </a:spcAft>
            </a:pPr>
            <a:r>
              <a:rPr sz="3200" b="1" i="0">
                <a:solidFill>
                  <a:srgbClr val="1B3A6B"/>
                </a:solidFill>
                <a:latin typeface="Calibri"/>
              </a:rPr>
              <a:t>Calibration: Every Raw Model Under-Predicts the Future</a:t>
            </a:r>
          </a:p>
        </p:txBody>
      </p:sp>
      <p:pic>
        <p:nvPicPr>
          <p:cNvPr id="4" name="Picture 3" descr="fig_reliability.png"/>
          <p:cNvPicPr>
            <a:picLocks noChangeAspect="1"/>
          </p:cNvPicPr>
          <p:nvPr/>
        </p:nvPicPr>
        <p:blipFill>
          <a:blip r:embed="rId2"/>
          <a:stretch>
            <a:fillRect/>
          </a:stretch>
        </p:blipFill>
        <p:spPr>
          <a:xfrm>
            <a:off x="548640" y="1691640"/>
            <a:ext cx="5057541" cy="3977639"/>
          </a:xfrm>
          <a:prstGeom prst="rect">
            <a:avLst/>
          </a:prstGeom>
        </p:spPr>
      </p:pic>
      <p:sp>
        <p:nvSpPr>
          <p:cNvPr id="5" name="TextBox 4"/>
          <p:cNvSpPr txBox="1"/>
          <p:nvPr/>
        </p:nvSpPr>
        <p:spPr>
          <a:xfrm>
            <a:off x="6035040" y="1783080"/>
            <a:ext cx="5577840" cy="4114800"/>
          </a:xfrm>
          <a:prstGeom prst="rect">
            <a:avLst/>
          </a:prstGeom>
          <a:noFill/>
        </p:spPr>
        <p:txBody>
          <a:bodyPr wrap="square" anchor="t" lIns="0" rIns="0" tIns="0" bIns="0">
            <a:spAutoFit/>
          </a:bodyPr>
          <a:lstStyle/>
          <a:p>
            <a:pPr algn="l">
              <a:lnSpc>
                <a:spcPct val="105000"/>
              </a:lnSpc>
              <a:spcAft>
                <a:spcPts val="1100"/>
              </a:spcAft>
            </a:pPr>
            <a:r>
              <a:rPr sz="1450" b="1" i="0">
                <a:solidFill>
                  <a:srgbClr val="1B3A6B"/>
                </a:solidFill>
                <a:latin typeface="Calibri"/>
              </a:rPr>
              <a:t>Read the diagonal:  </a:t>
            </a:r>
            <a:r>
              <a:rPr sz="1450" b="0" i="0">
                <a:solidFill>
                  <a:srgbClr val="212121"/>
                </a:solidFill>
                <a:latin typeface="Calibri"/>
              </a:rPr>
              <a:t>a calibrated model's curve lies on it. Every raw curve (grey) sits above: the 2015 vintage defaulted more than the training years, so all models under-predict PD.</a:t>
            </a:r>
          </a:p>
          <a:p>
            <a:pPr algn="l">
              <a:lnSpc>
                <a:spcPct val="105000"/>
              </a:lnSpc>
              <a:spcAft>
                <a:spcPts val="1100"/>
              </a:spcAft>
            </a:pPr>
            <a:r>
              <a:rPr sz="1450" b="1" i="0">
                <a:solidFill>
                  <a:srgbClr val="1B3A6B"/>
                </a:solidFill>
                <a:latin typeface="Calibri"/>
              </a:rPr>
              <a:t>Raw trees are worst:  </a:t>
            </a:r>
            <a:r>
              <a:rPr sz="1450" b="0" i="0">
                <a:solidFill>
                  <a:srgbClr val="212121"/>
                </a:solidFill>
                <a:latin typeface="Calibri"/>
              </a:rPr>
              <a:t>ECE 0.034 vs the scorecard's 0.025; margin-maximizing ensembles are not probability models.</a:t>
            </a:r>
          </a:p>
          <a:p>
            <a:pPr algn="l">
              <a:lnSpc>
                <a:spcPct val="105000"/>
              </a:lnSpc>
              <a:spcAft>
                <a:spcPts val="1100"/>
              </a:spcAft>
            </a:pPr>
            <a:r>
              <a:rPr sz="1450" b="1" i="0">
                <a:solidFill>
                  <a:srgbClr val="1B3A6B"/>
                </a:solidFill>
                <a:latin typeface="Calibri"/>
              </a:rPr>
              <a:t>Isotonic recalibration helps everyone  </a:t>
            </a:r>
            <a:r>
              <a:rPr sz="1450" b="0" i="0">
                <a:solidFill>
                  <a:srgbClr val="212121"/>
                </a:solidFill>
                <a:latin typeface="Calibri"/>
              </a:rPr>
              <a:t>but cannot anticipate drift that was not yet visible in 2014.</a:t>
            </a:r>
          </a:p>
          <a:p>
            <a:pPr algn="l">
              <a:lnSpc>
                <a:spcPct val="105000"/>
              </a:lnSpc>
              <a:spcAft>
                <a:spcPts val="1100"/>
              </a:spcAft>
            </a:pPr>
            <a:r>
              <a:rPr sz="1450" b="1" i="0">
                <a:solidFill>
                  <a:srgbClr val="1B3A6B"/>
                </a:solidFill>
                <a:latin typeface="Calibri"/>
              </a:rPr>
              <a:t>The scorecard beats the trees on calibration:  </a:t>
            </a:r>
            <a:r>
              <a:rPr sz="1450" b="0" i="0">
                <a:solidFill>
                  <a:srgbClr val="212121"/>
                </a:solidFill>
                <a:latin typeface="Calibri"/>
              </a:rPr>
              <a:t>ECE 0.0175 vs XGBoost's 0.0214 after identical recalibration. The trees keep the better Brier score, which also rewards discrimination.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274320"/>
          </a:xfrm>
          <a:prstGeom prst="rect">
            <a:avLst/>
          </a:prstGeom>
          <a:noFill/>
        </p:spPr>
        <p:txBody>
          <a:bodyPr wrap="square" anchor="t" lIns="0" rIns="0" tIns="0" bIns="0">
            <a:spAutoFit/>
          </a:bodyPr>
          <a:lstStyle/>
          <a:p>
            <a:pPr algn="l">
              <a:lnSpc>
                <a:spcPct val="100000"/>
              </a:lnSpc>
              <a:spcAft>
                <a:spcPts val="600"/>
              </a:spcAft>
            </a:pPr>
            <a:r>
              <a:rPr sz="1300" b="1" i="0">
                <a:solidFill>
                  <a:srgbClr val="C99B1C"/>
                </a:solidFill>
                <a:latin typeface="Calibri"/>
              </a:rPr>
              <a:t>RESULTS 3 OF 4</a:t>
            </a:r>
          </a:p>
        </p:txBody>
      </p:sp>
      <p:sp>
        <p:nvSpPr>
          <p:cNvPr id="3" name="TextBox 2"/>
          <p:cNvSpPr txBox="1"/>
          <p:nvPr/>
        </p:nvSpPr>
        <p:spPr>
          <a:xfrm>
            <a:off x="548640" y="621792"/>
            <a:ext cx="11064240" cy="685800"/>
          </a:xfrm>
          <a:prstGeom prst="rect">
            <a:avLst/>
          </a:prstGeom>
          <a:noFill/>
        </p:spPr>
        <p:txBody>
          <a:bodyPr wrap="square" anchor="t" lIns="0" rIns="0" tIns="0" bIns="0">
            <a:spAutoFit/>
          </a:bodyPr>
          <a:lstStyle/>
          <a:p>
            <a:pPr algn="l">
              <a:lnSpc>
                <a:spcPct val="100000"/>
              </a:lnSpc>
              <a:spcAft>
                <a:spcPts val="600"/>
              </a:spcAft>
            </a:pPr>
            <a:r>
              <a:rPr sz="3200" b="1" i="0">
                <a:solidFill>
                  <a:srgbClr val="1B3A6B"/>
                </a:solidFill>
                <a:latin typeface="Calibri"/>
              </a:rPr>
              <a:t>Profit: the AUC Gap Becomes Money at the Cutoff</a:t>
            </a:r>
          </a:p>
        </p:txBody>
      </p:sp>
      <p:pic>
        <p:nvPicPr>
          <p:cNvPr id="4" name="Picture 3" descr="fig_profit.png"/>
          <p:cNvPicPr>
            <a:picLocks noChangeAspect="1"/>
          </p:cNvPicPr>
          <p:nvPr/>
        </p:nvPicPr>
        <p:blipFill>
          <a:blip r:embed="rId2"/>
          <a:stretch>
            <a:fillRect/>
          </a:stretch>
        </p:blipFill>
        <p:spPr>
          <a:xfrm>
            <a:off x="548640" y="1737360"/>
            <a:ext cx="7589520" cy="3424540"/>
          </a:xfrm>
          <a:prstGeom prst="rect">
            <a:avLst/>
          </a:prstGeom>
        </p:spPr>
      </p:pic>
      <p:sp>
        <p:nvSpPr>
          <p:cNvPr id="5" name="TextBox 4"/>
          <p:cNvSpPr txBox="1"/>
          <p:nvPr/>
        </p:nvSpPr>
        <p:spPr>
          <a:xfrm>
            <a:off x="8503920" y="1828800"/>
            <a:ext cx="3200400" cy="4023360"/>
          </a:xfrm>
          <a:prstGeom prst="rect">
            <a:avLst/>
          </a:prstGeom>
          <a:noFill/>
        </p:spPr>
        <p:txBody>
          <a:bodyPr wrap="square" anchor="t" lIns="0" rIns="0" tIns="0" bIns="0">
            <a:spAutoFit/>
          </a:bodyPr>
          <a:lstStyle/>
          <a:p>
            <a:pPr algn="l">
              <a:lnSpc>
                <a:spcPct val="105000"/>
              </a:lnSpc>
              <a:spcAft>
                <a:spcPts val="1100"/>
              </a:spcAft>
            </a:pPr>
            <a:r>
              <a:rPr sz="1450" b="1" i="0">
                <a:solidFill>
                  <a:srgbClr val="1B3A6B"/>
                </a:solidFill>
                <a:latin typeface="Calibri"/>
              </a:rPr>
              <a:t>Accepting everyone already earns  </a:t>
            </a:r>
            <a:r>
              <a:rPr sz="1450" b="0" i="0">
                <a:solidFill>
                  <a:srgbClr val="212121"/>
                </a:solidFill>
                <a:latin typeface="Calibri"/>
              </a:rPr>
              <a:t>$705 per applicant; interest income dominates this portfolio.</a:t>
            </a:r>
          </a:p>
          <a:p>
            <a:pPr algn="l">
              <a:lnSpc>
                <a:spcPct val="105000"/>
              </a:lnSpc>
              <a:spcAft>
                <a:spcPts val="1100"/>
              </a:spcAft>
            </a:pPr>
            <a:r>
              <a:rPr sz="1450" b="1" i="0">
                <a:solidFill>
                  <a:srgbClr val="1B3A6B"/>
                </a:solidFill>
                <a:latin typeface="Calibri"/>
              </a:rPr>
              <a:t>Scorecard:  </a:t>
            </a:r>
            <a:r>
              <a:rPr sz="1450" b="0" i="0">
                <a:solidFill>
                  <a:srgbClr val="212121"/>
                </a:solidFill>
                <a:latin typeface="Calibri"/>
              </a:rPr>
              <a:t>reject the riskiest 6.7% for +1.2% profit.</a:t>
            </a:r>
          </a:p>
          <a:p>
            <a:pPr algn="l">
              <a:lnSpc>
                <a:spcPct val="105000"/>
              </a:lnSpc>
              <a:spcAft>
                <a:spcPts val="1100"/>
              </a:spcAft>
            </a:pPr>
            <a:r>
              <a:rPr sz="1450" b="1" i="0">
                <a:solidFill>
                  <a:srgbClr val="1B3A6B"/>
                </a:solidFill>
                <a:latin typeface="Calibri"/>
              </a:rPr>
              <a:t>XGBoost:  </a:t>
            </a:r>
            <a:r>
              <a:rPr sz="1450" b="0" i="0">
                <a:solidFill>
                  <a:srgbClr val="212121"/>
                </a:solidFill>
                <a:latin typeface="Calibri"/>
              </a:rPr>
              <a:t>reject 9.3% for +3.3%, that is +$14,700 per 1,000 applicants over the scorecard (+2.1%).</a:t>
            </a:r>
          </a:p>
          <a:p>
            <a:pPr algn="l">
              <a:lnSpc>
                <a:spcPct val="105000"/>
              </a:lnSpc>
              <a:spcAft>
                <a:spcPts val="1100"/>
              </a:spcAft>
            </a:pPr>
            <a:r>
              <a:rPr sz="1450" b="1" i="0">
                <a:solidFill>
                  <a:srgbClr val="1B3A6B"/>
                </a:solidFill>
                <a:latin typeface="Calibri"/>
              </a:rPr>
              <a:t>Scale decides adoption:  </a:t>
            </a:r>
            <a:r>
              <a:rPr sz="1450" b="0" i="0">
                <a:solidFill>
                  <a:srgbClr val="212121"/>
                </a:solidFill>
                <a:latin typeface="Calibri"/>
              </a:rPr>
              <a:t>a modest edge worth millions at bank volume, and nothing at credit-union volume.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274320"/>
          </a:xfrm>
          <a:prstGeom prst="rect">
            <a:avLst/>
          </a:prstGeom>
          <a:noFill/>
        </p:spPr>
        <p:txBody>
          <a:bodyPr wrap="square" anchor="t" lIns="0" rIns="0" tIns="0" bIns="0">
            <a:spAutoFit/>
          </a:bodyPr>
          <a:lstStyle/>
          <a:p>
            <a:pPr algn="l">
              <a:lnSpc>
                <a:spcPct val="100000"/>
              </a:lnSpc>
              <a:spcAft>
                <a:spcPts val="600"/>
              </a:spcAft>
            </a:pPr>
            <a:r>
              <a:rPr sz="1300" b="1" i="0">
                <a:solidFill>
                  <a:srgbClr val="C99B1C"/>
                </a:solidFill>
                <a:latin typeface="Calibri"/>
              </a:rPr>
              <a:t>RESULTS 4 OF 4</a:t>
            </a:r>
          </a:p>
        </p:txBody>
      </p:sp>
      <p:sp>
        <p:nvSpPr>
          <p:cNvPr id="3" name="TextBox 2"/>
          <p:cNvSpPr txBox="1"/>
          <p:nvPr/>
        </p:nvSpPr>
        <p:spPr>
          <a:xfrm>
            <a:off x="548640" y="621792"/>
            <a:ext cx="11064240" cy="685800"/>
          </a:xfrm>
          <a:prstGeom prst="rect">
            <a:avLst/>
          </a:prstGeom>
          <a:noFill/>
        </p:spPr>
        <p:txBody>
          <a:bodyPr wrap="square" anchor="t" lIns="0" rIns="0" tIns="0" bIns="0">
            <a:spAutoFit/>
          </a:bodyPr>
          <a:lstStyle/>
          <a:p>
            <a:pPr algn="l">
              <a:lnSpc>
                <a:spcPct val="100000"/>
              </a:lnSpc>
              <a:spcAft>
                <a:spcPts val="600"/>
              </a:spcAft>
            </a:pPr>
            <a:r>
              <a:rPr sz="3200" b="1" i="0">
                <a:solidFill>
                  <a:srgbClr val="1B3A6B"/>
                </a:solidFill>
                <a:latin typeface="Calibri"/>
              </a:rPr>
              <a:t>What Did the Models Learn? Mostly the Same Thing</a:t>
            </a:r>
          </a:p>
        </p:txBody>
      </p:sp>
      <p:pic>
        <p:nvPicPr>
          <p:cNvPr id="4" name="Picture 3" descr="fig_importance.png"/>
          <p:cNvPicPr>
            <a:picLocks noChangeAspect="1"/>
          </p:cNvPicPr>
          <p:nvPr/>
        </p:nvPicPr>
        <p:blipFill>
          <a:blip r:embed="rId2"/>
          <a:stretch>
            <a:fillRect/>
          </a:stretch>
        </p:blipFill>
        <p:spPr>
          <a:xfrm>
            <a:off x="548640" y="1737360"/>
            <a:ext cx="7237973" cy="3931920"/>
          </a:xfrm>
          <a:prstGeom prst="rect">
            <a:avLst/>
          </a:prstGeom>
        </p:spPr>
      </p:pic>
      <p:sp>
        <p:nvSpPr>
          <p:cNvPr id="5" name="TextBox 4"/>
          <p:cNvSpPr txBox="1"/>
          <p:nvPr/>
        </p:nvSpPr>
        <p:spPr>
          <a:xfrm>
            <a:off x="7863840" y="1828800"/>
            <a:ext cx="3840480" cy="4023360"/>
          </a:xfrm>
          <a:prstGeom prst="rect">
            <a:avLst/>
          </a:prstGeom>
          <a:noFill/>
        </p:spPr>
        <p:txBody>
          <a:bodyPr wrap="square" anchor="t" lIns="0" rIns="0" tIns="0" bIns="0">
            <a:spAutoFit/>
          </a:bodyPr>
          <a:lstStyle/>
          <a:p>
            <a:pPr algn="l">
              <a:lnSpc>
                <a:spcPct val="105000"/>
              </a:lnSpc>
              <a:spcAft>
                <a:spcPts val="1200"/>
              </a:spcAft>
            </a:pPr>
            <a:r>
              <a:rPr sz="1450" b="1" i="0">
                <a:solidFill>
                  <a:srgbClr val="1B3A6B"/>
                </a:solidFill>
                <a:latin typeface="Calibri"/>
              </a:rPr>
              <a:t>Both families agree  </a:t>
            </a:r>
            <a:r>
              <a:rPr sz="1450" b="0" i="0">
                <a:solidFill>
                  <a:srgbClr val="212121"/>
                </a:solidFill>
                <a:latin typeface="Calibri"/>
              </a:rPr>
              <a:t>that the platform's own pricing (interest rate, grade) carries the most signal; rank correlation 0.56.</a:t>
            </a:r>
          </a:p>
          <a:p>
            <a:pPr algn="l">
              <a:lnSpc>
                <a:spcPct val="105000"/>
              </a:lnSpc>
              <a:spcAft>
                <a:spcPts val="1200"/>
              </a:spcAft>
            </a:pPr>
            <a:r>
              <a:rPr sz="1450" b="1" i="0">
                <a:solidFill>
                  <a:srgbClr val="1B3A6B"/>
                </a:solidFill>
                <a:latin typeface="Calibri"/>
              </a:rPr>
              <a:t>They disagree in encoding:  </a:t>
            </a:r>
            <a:r>
              <a:rPr sz="1450" b="0" i="0">
                <a:solidFill>
                  <a:srgbClr val="212121"/>
                </a:solidFill>
                <a:latin typeface="Calibri"/>
              </a:rPr>
              <a:t>the scorecard leans on sub-grade and FICO bins; XGBoost prefers the continuous interest rate and income.</a:t>
            </a:r>
          </a:p>
          <a:p>
            <a:pPr algn="l">
              <a:lnSpc>
                <a:spcPct val="105000"/>
              </a:lnSpc>
              <a:spcAft>
                <a:spcPts val="1200"/>
              </a:spcAft>
            </a:pPr>
            <a:r>
              <a:rPr sz="1450" b="1" i="0">
                <a:solidFill>
                  <a:srgbClr val="1B3A6B"/>
                </a:solidFill>
                <a:latin typeface="Calibri"/>
              </a:rPr>
              <a:t>Interpretability trade-off:  </a:t>
            </a:r>
            <a:r>
              <a:rPr sz="1450" b="0" i="0">
                <a:solidFill>
                  <a:srgbClr val="212121"/>
                </a:solidFill>
                <a:latin typeface="Calibri"/>
              </a:rPr>
              <a:t>the scorecard is a readable sum of points per applicant; the ensemble needs post-hoc explanation tools.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274320"/>
          </a:xfrm>
          <a:prstGeom prst="rect">
            <a:avLst/>
          </a:prstGeom>
          <a:noFill/>
        </p:spPr>
        <p:txBody>
          <a:bodyPr wrap="square" anchor="t" lIns="0" rIns="0" tIns="0" bIns="0">
            <a:spAutoFit/>
          </a:bodyPr>
          <a:lstStyle/>
          <a:p>
            <a:pPr algn="l">
              <a:lnSpc>
                <a:spcPct val="100000"/>
              </a:lnSpc>
              <a:spcAft>
                <a:spcPts val="600"/>
              </a:spcAft>
            </a:pPr>
            <a:r>
              <a:rPr sz="1300" b="1" i="0">
                <a:solidFill>
                  <a:srgbClr val="C99B1C"/>
                </a:solidFill>
                <a:latin typeface="Calibri"/>
              </a:rPr>
              <a:t>ABLATION</a:t>
            </a:r>
          </a:p>
        </p:txBody>
      </p:sp>
      <p:sp>
        <p:nvSpPr>
          <p:cNvPr id="3" name="TextBox 2"/>
          <p:cNvSpPr txBox="1"/>
          <p:nvPr/>
        </p:nvSpPr>
        <p:spPr>
          <a:xfrm>
            <a:off x="548640" y="621792"/>
            <a:ext cx="11064240" cy="685800"/>
          </a:xfrm>
          <a:prstGeom prst="rect">
            <a:avLst/>
          </a:prstGeom>
          <a:noFill/>
        </p:spPr>
        <p:txBody>
          <a:bodyPr wrap="square" anchor="t" lIns="0" rIns="0" tIns="0" bIns="0">
            <a:spAutoFit/>
          </a:bodyPr>
          <a:lstStyle/>
          <a:p>
            <a:pPr algn="l">
              <a:lnSpc>
                <a:spcPct val="100000"/>
              </a:lnSpc>
              <a:spcAft>
                <a:spcPts val="600"/>
              </a:spcAft>
            </a:pPr>
            <a:r>
              <a:rPr sz="3200" b="1" i="0">
                <a:solidFill>
                  <a:srgbClr val="1B3A6B"/>
                </a:solidFill>
                <a:latin typeface="Calibri"/>
              </a:rPr>
              <a:t>What If We Hide Lending Club's Own Pricing?</a:t>
            </a:r>
          </a:p>
        </p:txBody>
      </p:sp>
      <p:sp>
        <p:nvSpPr>
          <p:cNvPr id="4" name="TextBox 3"/>
          <p:cNvSpPr txBox="1"/>
          <p:nvPr/>
        </p:nvSpPr>
        <p:spPr>
          <a:xfrm>
            <a:off x="548640" y="1508760"/>
            <a:ext cx="11064240" cy="502920"/>
          </a:xfrm>
          <a:prstGeom prst="rect">
            <a:avLst/>
          </a:prstGeom>
          <a:noFill/>
        </p:spPr>
        <p:txBody>
          <a:bodyPr wrap="square" anchor="t" lIns="0" rIns="0" tIns="0" bIns="0">
            <a:spAutoFit/>
          </a:bodyPr>
          <a:lstStyle/>
          <a:p>
            <a:pPr algn="l">
              <a:lnSpc>
                <a:spcPct val="100000"/>
              </a:lnSpc>
              <a:spcAft>
                <a:spcPts val="600"/>
              </a:spcAft>
            </a:pPr>
            <a:r>
              <a:rPr sz="1450" b="1" i="0">
                <a:solidFill>
                  <a:srgbClr val="1B3A6B"/>
                </a:solidFill>
                <a:latin typeface="Calibri"/>
              </a:rPr>
              <a:t>The concern:  </a:t>
            </a:r>
            <a:r>
              <a:rPr sz="1450" b="0" i="0">
                <a:solidFill>
                  <a:srgbClr val="212121"/>
                </a:solidFill>
                <a:latin typeface="Calibri"/>
              </a:rPr>
              <a:t>grade, sub-grade and interest rate are one variable in three notations, the platform's own risk assessment. They supply 36% of XGBoost's gain and 43% of LightGBM's. So are the models assessing credit risk, or just re-ranking loans Lending Club already ranked?</a:t>
            </a:r>
          </a:p>
        </p:txBody>
      </p:sp>
      <p:sp>
        <p:nvSpPr>
          <p:cNvPr id="5" name="Rounded Rectangle 4"/>
          <p:cNvSpPr/>
          <p:nvPr/>
        </p:nvSpPr>
        <p:spPr>
          <a:xfrm>
            <a:off x="548640" y="2286000"/>
            <a:ext cx="5303520" cy="896112"/>
          </a:xfrm>
          <a:prstGeom prst="roundRect">
            <a:avLst>
              <a:gd name="adj" fmla="val 8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404872"/>
            <a:ext cx="1371600" cy="365760"/>
          </a:xfrm>
          <a:prstGeom prst="rect">
            <a:avLst/>
          </a:prstGeom>
          <a:noFill/>
        </p:spPr>
        <p:txBody>
          <a:bodyPr wrap="square" anchor="t" lIns="0" rIns="0" tIns="0" bIns="0">
            <a:spAutoFit/>
          </a:bodyPr>
          <a:lstStyle/>
          <a:p>
            <a:pPr algn="l">
              <a:lnSpc>
                <a:spcPct val="100000"/>
              </a:lnSpc>
              <a:spcAft>
                <a:spcPts val="600"/>
              </a:spcAft>
            </a:pPr>
            <a:r>
              <a:rPr sz="1500" b="1" i="0">
                <a:solidFill>
                  <a:srgbClr val="C99B1C"/>
                </a:solidFill>
                <a:latin typeface="Calibri"/>
              </a:rPr>
              <a:t>Variant A</a:t>
            </a:r>
          </a:p>
        </p:txBody>
      </p:sp>
      <p:sp>
        <p:nvSpPr>
          <p:cNvPr id="7" name="TextBox 6"/>
          <p:cNvSpPr txBox="1"/>
          <p:nvPr/>
        </p:nvSpPr>
        <p:spPr>
          <a:xfrm>
            <a:off x="2148840" y="2386584"/>
            <a:ext cx="3474720" cy="731520"/>
          </a:xfrm>
          <a:prstGeom prst="rect">
            <a:avLst/>
          </a:prstGeom>
          <a:noFill/>
        </p:spPr>
        <p:txBody>
          <a:bodyPr wrap="square" anchor="t" lIns="0" rIns="0" tIns="0" bIns="0">
            <a:spAutoFit/>
          </a:bodyPr>
          <a:lstStyle/>
          <a:p>
            <a:pPr algn="l">
              <a:lnSpc>
                <a:spcPct val="100000"/>
              </a:lnSpc>
              <a:spcAft>
                <a:spcPts val="600"/>
              </a:spcAft>
            </a:pPr>
            <a:r>
              <a:rPr sz="1200" b="0" i="0">
                <a:solidFill>
                  <a:srgbClr val="212121"/>
                </a:solidFill>
                <a:latin typeface="Calibri"/>
              </a:rPr>
              <a:t>Drop grade, sub-grade, interest rate.  20 features left.</a:t>
            </a:r>
          </a:p>
        </p:txBody>
      </p:sp>
      <p:sp>
        <p:nvSpPr>
          <p:cNvPr id="8" name="Rounded Rectangle 7"/>
          <p:cNvSpPr/>
          <p:nvPr/>
        </p:nvSpPr>
        <p:spPr>
          <a:xfrm>
            <a:off x="548640" y="3337560"/>
            <a:ext cx="5303520" cy="896112"/>
          </a:xfrm>
          <a:prstGeom prst="roundRect">
            <a:avLst>
              <a:gd name="adj" fmla="val 8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456432"/>
            <a:ext cx="1371600" cy="365760"/>
          </a:xfrm>
          <a:prstGeom prst="rect">
            <a:avLst/>
          </a:prstGeom>
          <a:noFill/>
        </p:spPr>
        <p:txBody>
          <a:bodyPr wrap="square" anchor="t" lIns="0" rIns="0" tIns="0" bIns="0">
            <a:spAutoFit/>
          </a:bodyPr>
          <a:lstStyle/>
          <a:p>
            <a:pPr algn="l">
              <a:lnSpc>
                <a:spcPct val="100000"/>
              </a:lnSpc>
              <a:spcAft>
                <a:spcPts val="600"/>
              </a:spcAft>
            </a:pPr>
            <a:r>
              <a:rPr sz="1500" b="1" i="0">
                <a:solidFill>
                  <a:srgbClr val="C99B1C"/>
                </a:solidFill>
                <a:latin typeface="Calibri"/>
              </a:rPr>
              <a:t>Variant B</a:t>
            </a:r>
          </a:p>
        </p:txBody>
      </p:sp>
      <p:sp>
        <p:nvSpPr>
          <p:cNvPr id="10" name="TextBox 9"/>
          <p:cNvSpPr txBox="1"/>
          <p:nvPr/>
        </p:nvSpPr>
        <p:spPr>
          <a:xfrm>
            <a:off x="2148840" y="3438144"/>
            <a:ext cx="3474720" cy="731520"/>
          </a:xfrm>
          <a:prstGeom prst="rect">
            <a:avLst/>
          </a:prstGeom>
          <a:noFill/>
        </p:spPr>
        <p:txBody>
          <a:bodyPr wrap="square" anchor="t" lIns="0" rIns="0" tIns="0" bIns="0">
            <a:spAutoFit/>
          </a:bodyPr>
          <a:lstStyle/>
          <a:p>
            <a:pPr algn="l">
              <a:lnSpc>
                <a:spcPct val="100000"/>
              </a:lnSpc>
              <a:spcAft>
                <a:spcPts val="600"/>
              </a:spcAft>
            </a:pPr>
            <a:r>
              <a:rPr sz="1200" b="0" i="0">
                <a:solidFill>
                  <a:srgbClr val="212121"/>
                </a:solidFill>
                <a:latin typeface="Calibri"/>
              </a:rPr>
              <a:t>Also drop installment: with the term fixed at 36 months it tracks the rate at ρ = 0.998, so A still leaks pricing through it. B is the honest test.</a:t>
            </a:r>
          </a:p>
        </p:txBody>
      </p:sp>
      <p:graphicFrame>
        <p:nvGraphicFramePr>
          <p:cNvPr id="11" name="Table 10"/>
          <p:cNvGraphicFramePr>
            <a:graphicFrameLocks noGrp="1"/>
          </p:cNvGraphicFramePr>
          <p:nvPr/>
        </p:nvGraphicFramePr>
        <p:xfrm>
          <a:off x="6309360" y="2286000"/>
          <a:ext cx="5303520" cy="2103120"/>
        </p:xfrm>
        <a:graphic>
          <a:graphicData uri="http://schemas.openxmlformats.org/drawingml/2006/table">
            <a:tbl>
              <a:tblPr firstRow="1" bandRow="1">
                <a:tableStyleId>{5C22544A-7EE6-4342-B048-85BDC9FD1C3A}</a:tableStyleId>
              </a:tblPr>
              <a:tblGrid>
                <a:gridCol w="1737360"/>
                <a:gridCol w="1097280"/>
                <a:gridCol w="1188720"/>
                <a:gridCol w="1280160"/>
              </a:tblGrid>
              <a:tr h="420624">
                <a:tc>
                  <a:txBody>
                    <a:bodyPr/>
                    <a:lstStyle/>
                    <a:p>
                      <a:r>
                        <a:rPr b="1" sz="1250">
                          <a:solidFill>
                            <a:srgbClr val="FFFFFF"/>
                          </a:solidFill>
                          <a:latin typeface="Calibri"/>
                        </a:rPr>
                        <a:t>Model</a:t>
                      </a:r>
                    </a:p>
                  </a:txBody>
                  <a:tcPr>
                    <a:solidFill>
                      <a:srgbClr val="1B3A6B"/>
                    </a:solidFill>
                  </a:tcPr>
                </a:tc>
                <a:tc>
                  <a:txBody>
                    <a:bodyPr/>
                    <a:lstStyle/>
                    <a:p>
                      <a:r>
                        <a:rPr b="1" sz="1250">
                          <a:solidFill>
                            <a:srgbClr val="FFFFFF"/>
                          </a:solidFill>
                          <a:latin typeface="Calibri"/>
                        </a:rPr>
                        <a:t>Baseline</a:t>
                      </a:r>
                    </a:p>
                  </a:txBody>
                  <a:tcPr>
                    <a:solidFill>
                      <a:srgbClr val="1B3A6B"/>
                    </a:solidFill>
                  </a:tcPr>
                </a:tc>
                <a:tc>
                  <a:txBody>
                    <a:bodyPr/>
                    <a:lstStyle/>
                    <a:p>
                      <a:r>
                        <a:rPr b="1" sz="1250">
                          <a:solidFill>
                            <a:srgbClr val="FFFFFF"/>
                          </a:solidFill>
                          <a:latin typeface="Calibri"/>
                        </a:rPr>
                        <a:t>Variant B</a:t>
                      </a:r>
                    </a:p>
                  </a:txBody>
                  <a:tcPr>
                    <a:solidFill>
                      <a:srgbClr val="1B3A6B"/>
                    </a:solidFill>
                  </a:tcPr>
                </a:tc>
                <a:tc>
                  <a:txBody>
                    <a:bodyPr/>
                    <a:lstStyle/>
                    <a:p>
                      <a:r>
                        <a:rPr b="1" sz="1250">
                          <a:solidFill>
                            <a:srgbClr val="FFFFFF"/>
                          </a:solidFill>
                          <a:latin typeface="Calibri"/>
                        </a:rPr>
                        <a:t>Change</a:t>
                      </a:r>
                    </a:p>
                  </a:txBody>
                  <a:tcPr>
                    <a:solidFill>
                      <a:srgbClr val="1B3A6B"/>
                    </a:solidFill>
                  </a:tcPr>
                </a:tc>
              </a:tr>
              <a:tr h="420624">
                <a:tc>
                  <a:txBody>
                    <a:bodyPr/>
                    <a:lstStyle/>
                    <a:p>
                      <a:r>
                        <a:rPr sz="1250" b="1">
                          <a:solidFill>
                            <a:srgbClr val="212121"/>
                          </a:solidFill>
                          <a:latin typeface="Calibri"/>
                        </a:rPr>
                        <a:t>XGBoost</a:t>
                      </a:r>
                    </a:p>
                  </a:txBody>
                  <a:tcPr>
                    <a:solidFill>
                      <a:srgbClr val="EDF1F7"/>
                    </a:solidFill>
                  </a:tcPr>
                </a:tc>
                <a:tc>
                  <a:txBody>
                    <a:bodyPr/>
                    <a:lstStyle/>
                    <a:p>
                      <a:r>
                        <a:rPr sz="1250" b="0">
                          <a:solidFill>
                            <a:srgbClr val="212121"/>
                          </a:solidFill>
                          <a:latin typeface="Calibri"/>
                        </a:rPr>
                        <a:t>0.6850</a:t>
                      </a:r>
                    </a:p>
                  </a:txBody>
                  <a:tcPr>
                    <a:solidFill>
                      <a:srgbClr val="EDF1F7"/>
                    </a:solidFill>
                  </a:tcPr>
                </a:tc>
                <a:tc>
                  <a:txBody>
                    <a:bodyPr/>
                    <a:lstStyle/>
                    <a:p>
                      <a:r>
                        <a:rPr sz="1250" b="0">
                          <a:solidFill>
                            <a:srgbClr val="212121"/>
                          </a:solidFill>
                          <a:latin typeface="Calibri"/>
                        </a:rPr>
                        <a:t>0.6637</a:t>
                      </a:r>
                    </a:p>
                  </a:txBody>
                  <a:tcPr>
                    <a:solidFill>
                      <a:srgbClr val="EDF1F7"/>
                    </a:solidFill>
                  </a:tcPr>
                </a:tc>
                <a:tc>
                  <a:txBody>
                    <a:bodyPr/>
                    <a:lstStyle/>
                    <a:p>
                      <a:r>
                        <a:rPr sz="1250" b="0">
                          <a:solidFill>
                            <a:srgbClr val="212121"/>
                          </a:solidFill>
                          <a:latin typeface="Calibri"/>
                        </a:rPr>
                        <a:t>−0.021</a:t>
                      </a:r>
                    </a:p>
                  </a:txBody>
                  <a:tcPr>
                    <a:solidFill>
                      <a:srgbClr val="EDF1F7"/>
                    </a:solidFill>
                  </a:tcPr>
                </a:tc>
              </a:tr>
              <a:tr h="420624">
                <a:tc>
                  <a:txBody>
                    <a:bodyPr/>
                    <a:lstStyle/>
                    <a:p>
                      <a:r>
                        <a:rPr sz="1250" b="1">
                          <a:solidFill>
                            <a:srgbClr val="212121"/>
                          </a:solidFill>
                          <a:latin typeface="Calibri"/>
                        </a:rPr>
                        <a:t>LightGBM</a:t>
                      </a:r>
                    </a:p>
                  </a:txBody>
                  <a:tcPr>
                    <a:solidFill>
                      <a:srgbClr val="FFFFFF"/>
                    </a:solidFill>
                  </a:tcPr>
                </a:tc>
                <a:tc>
                  <a:txBody>
                    <a:bodyPr/>
                    <a:lstStyle/>
                    <a:p>
                      <a:r>
                        <a:rPr sz="1250" b="0">
                          <a:solidFill>
                            <a:srgbClr val="212121"/>
                          </a:solidFill>
                          <a:latin typeface="Calibri"/>
                        </a:rPr>
                        <a:t>0.6843</a:t>
                      </a:r>
                    </a:p>
                  </a:txBody>
                  <a:tcPr>
                    <a:solidFill>
                      <a:srgbClr val="FFFFFF"/>
                    </a:solidFill>
                  </a:tcPr>
                </a:tc>
                <a:tc>
                  <a:txBody>
                    <a:bodyPr/>
                    <a:lstStyle/>
                    <a:p>
                      <a:r>
                        <a:rPr sz="1250" b="0">
                          <a:solidFill>
                            <a:srgbClr val="212121"/>
                          </a:solidFill>
                          <a:latin typeface="Calibri"/>
                        </a:rPr>
                        <a:t>0.6622</a:t>
                      </a:r>
                    </a:p>
                  </a:txBody>
                  <a:tcPr>
                    <a:solidFill>
                      <a:srgbClr val="FFFFFF"/>
                    </a:solidFill>
                  </a:tcPr>
                </a:tc>
                <a:tc>
                  <a:txBody>
                    <a:bodyPr/>
                    <a:lstStyle/>
                    <a:p>
                      <a:r>
                        <a:rPr sz="1250" b="0">
                          <a:solidFill>
                            <a:srgbClr val="212121"/>
                          </a:solidFill>
                          <a:latin typeface="Calibri"/>
                        </a:rPr>
                        <a:t>−0.022</a:t>
                      </a:r>
                    </a:p>
                  </a:txBody>
                  <a:tcPr>
                    <a:solidFill>
                      <a:srgbClr val="FFFFFF"/>
                    </a:solidFill>
                  </a:tcPr>
                </a:tc>
              </a:tr>
              <a:tr h="420624">
                <a:tc>
                  <a:txBody>
                    <a:bodyPr/>
                    <a:lstStyle/>
                    <a:p>
                      <a:r>
                        <a:rPr sz="1250" b="1">
                          <a:solidFill>
                            <a:srgbClr val="212121"/>
                          </a:solidFill>
                          <a:latin typeface="Calibri"/>
                        </a:rPr>
                        <a:t>MLP</a:t>
                      </a:r>
                    </a:p>
                  </a:txBody>
                  <a:tcPr>
                    <a:solidFill>
                      <a:srgbClr val="EDF1F7"/>
                    </a:solidFill>
                  </a:tcPr>
                </a:tc>
                <a:tc>
                  <a:txBody>
                    <a:bodyPr/>
                    <a:lstStyle/>
                    <a:p>
                      <a:r>
                        <a:rPr sz="1250" b="0">
                          <a:solidFill>
                            <a:srgbClr val="212121"/>
                          </a:solidFill>
                          <a:latin typeface="Calibri"/>
                        </a:rPr>
                        <a:t>0.6716</a:t>
                      </a:r>
                    </a:p>
                  </a:txBody>
                  <a:tcPr>
                    <a:solidFill>
                      <a:srgbClr val="EDF1F7"/>
                    </a:solidFill>
                  </a:tcPr>
                </a:tc>
                <a:tc>
                  <a:txBody>
                    <a:bodyPr/>
                    <a:lstStyle/>
                    <a:p>
                      <a:r>
                        <a:rPr sz="1250" b="0">
                          <a:solidFill>
                            <a:srgbClr val="212121"/>
                          </a:solidFill>
                          <a:latin typeface="Calibri"/>
                        </a:rPr>
                        <a:t>0.6428</a:t>
                      </a:r>
                    </a:p>
                  </a:txBody>
                  <a:tcPr>
                    <a:solidFill>
                      <a:srgbClr val="EDF1F7"/>
                    </a:solidFill>
                  </a:tcPr>
                </a:tc>
                <a:tc>
                  <a:txBody>
                    <a:bodyPr/>
                    <a:lstStyle/>
                    <a:p>
                      <a:r>
                        <a:rPr sz="1250" b="0">
                          <a:solidFill>
                            <a:srgbClr val="212121"/>
                          </a:solidFill>
                          <a:latin typeface="Calibri"/>
                        </a:rPr>
                        <a:t>−0.029</a:t>
                      </a:r>
                    </a:p>
                  </a:txBody>
                  <a:tcPr>
                    <a:solidFill>
                      <a:srgbClr val="EDF1F7"/>
                    </a:solidFill>
                  </a:tcPr>
                </a:tc>
              </a:tr>
              <a:tr h="420624">
                <a:tc>
                  <a:txBody>
                    <a:bodyPr/>
                    <a:lstStyle/>
                    <a:p>
                      <a:r>
                        <a:rPr sz="1250" b="1">
                          <a:solidFill>
                            <a:srgbClr val="212121"/>
                          </a:solidFill>
                          <a:latin typeface="Calibri"/>
                        </a:rPr>
                        <a:t>Scorecard</a:t>
                      </a:r>
                    </a:p>
                  </a:txBody>
                  <a:tcPr>
                    <a:solidFill>
                      <a:srgbClr val="FFFFFF"/>
                    </a:solidFill>
                  </a:tcPr>
                </a:tc>
                <a:tc>
                  <a:txBody>
                    <a:bodyPr/>
                    <a:lstStyle/>
                    <a:p>
                      <a:r>
                        <a:rPr sz="1250" b="0">
                          <a:solidFill>
                            <a:srgbClr val="212121"/>
                          </a:solidFill>
                          <a:latin typeface="Calibri"/>
                        </a:rPr>
                        <a:t>0.6767</a:t>
                      </a:r>
                    </a:p>
                  </a:txBody>
                  <a:tcPr>
                    <a:solidFill>
                      <a:srgbClr val="FFFFFF"/>
                    </a:solidFill>
                  </a:tcPr>
                </a:tc>
                <a:tc>
                  <a:txBody>
                    <a:bodyPr/>
                    <a:lstStyle/>
                    <a:p>
                      <a:r>
                        <a:rPr sz="1250" b="0">
                          <a:solidFill>
                            <a:srgbClr val="212121"/>
                          </a:solidFill>
                          <a:latin typeface="Calibri"/>
                        </a:rPr>
                        <a:t>0.6397</a:t>
                      </a:r>
                    </a:p>
                  </a:txBody>
                  <a:tcPr>
                    <a:solidFill>
                      <a:srgbClr val="FFFFFF"/>
                    </a:solidFill>
                  </a:tcPr>
                </a:tc>
                <a:tc>
                  <a:txBody>
                    <a:bodyPr/>
                    <a:lstStyle/>
                    <a:p>
                      <a:r>
                        <a:rPr sz="1250" b="0">
                          <a:solidFill>
                            <a:srgbClr val="A42A2A"/>
                          </a:solidFill>
                          <a:latin typeface="Calibri"/>
                        </a:rPr>
                        <a:t>−0.037</a:t>
                      </a:r>
                    </a:p>
                  </a:txBody>
                  <a:tcPr>
                    <a:solidFill>
                      <a:srgbClr val="FFFFFF"/>
                    </a:solidFill>
                  </a:tcPr>
                </a:tc>
              </a:tr>
            </a:tbl>
          </a:graphicData>
        </a:graphic>
      </p:graphicFrame>
      <p:sp>
        <p:nvSpPr>
          <p:cNvPr id="12" name="TextBox 11"/>
          <p:cNvSpPr txBox="1"/>
          <p:nvPr/>
        </p:nvSpPr>
        <p:spPr>
          <a:xfrm>
            <a:off x="548640" y="4617720"/>
            <a:ext cx="11064240" cy="1920240"/>
          </a:xfrm>
          <a:prstGeom prst="rect">
            <a:avLst/>
          </a:prstGeom>
          <a:noFill/>
        </p:spPr>
        <p:txBody>
          <a:bodyPr wrap="square" anchor="t" lIns="0" rIns="0" tIns="0" bIns="0">
            <a:spAutoFit/>
          </a:bodyPr>
          <a:lstStyle/>
          <a:p>
            <a:pPr algn="l">
              <a:lnSpc>
                <a:spcPct val="105000"/>
              </a:lnSpc>
              <a:spcAft>
                <a:spcPts val="900"/>
              </a:spcAft>
            </a:pPr>
            <a:r>
              <a:rPr sz="1400" b="1" i="0">
                <a:solidFill>
                  <a:srgbClr val="1B3A6B"/>
                </a:solidFill>
                <a:latin typeface="Calibri"/>
              </a:rPr>
              <a:t>The pricing was hiding the ML advantage, not creating it:  </a:t>
            </a:r>
            <a:r>
              <a:rPr sz="1400" b="0" i="0">
                <a:solidFill>
                  <a:srgbClr val="212121"/>
                </a:solidFill>
                <a:latin typeface="Calibri"/>
              </a:rPr>
              <a:t>the scorecard degrades almost twice as fast as the trees, so XGBoost's lead grows from +0.83 to +2.39 AUC points, and its profit edge to $15,400 per 1,000 applicants.</a:t>
            </a:r>
          </a:p>
          <a:p>
            <a:pPr algn="l">
              <a:lnSpc>
                <a:spcPct val="105000"/>
              </a:lnSpc>
              <a:spcAft>
                <a:spcPts val="900"/>
              </a:spcAft>
            </a:pPr>
            <a:r>
              <a:rPr sz="1400" b="1" i="0">
                <a:solidFill>
                  <a:srgbClr val="1B3A6B"/>
                </a:solidFill>
                <a:latin typeface="Calibri"/>
              </a:rPr>
              <a:t>The trees used the proxy; the scorecard could not:  </a:t>
            </a:r>
            <a:r>
              <a:rPr sz="1400" b="0" i="0">
                <a:solidFill>
                  <a:srgbClr val="212121"/>
                </a:solidFill>
                <a:latin typeface="Calibri"/>
              </a:rPr>
              <a:t>the scorecard scores 0.6397 under both variants because its information-value screen had already discarded installment as too weak. The old-fashioned screen was the protection.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274320"/>
          </a:xfrm>
          <a:prstGeom prst="rect">
            <a:avLst/>
          </a:prstGeom>
          <a:noFill/>
        </p:spPr>
        <p:txBody>
          <a:bodyPr wrap="square" anchor="t" lIns="0" rIns="0" tIns="0" bIns="0">
            <a:spAutoFit/>
          </a:bodyPr>
          <a:lstStyle/>
          <a:p>
            <a:pPr algn="l">
              <a:lnSpc>
                <a:spcPct val="100000"/>
              </a:lnSpc>
              <a:spcAft>
                <a:spcPts val="600"/>
              </a:spcAft>
            </a:pPr>
            <a:r>
              <a:rPr sz="1300" b="1" i="0">
                <a:solidFill>
                  <a:srgbClr val="C99B1C"/>
                </a:solidFill>
                <a:latin typeface="Calibri"/>
              </a:rPr>
              <a:t>ROBUSTNESS AND LIMITATIONS</a:t>
            </a:r>
          </a:p>
        </p:txBody>
      </p:sp>
      <p:sp>
        <p:nvSpPr>
          <p:cNvPr id="3" name="TextBox 2"/>
          <p:cNvSpPr txBox="1"/>
          <p:nvPr/>
        </p:nvSpPr>
        <p:spPr>
          <a:xfrm>
            <a:off x="548640" y="621792"/>
            <a:ext cx="11064240" cy="685800"/>
          </a:xfrm>
          <a:prstGeom prst="rect">
            <a:avLst/>
          </a:prstGeom>
          <a:noFill/>
        </p:spPr>
        <p:txBody>
          <a:bodyPr wrap="square" anchor="t" lIns="0" rIns="0" tIns="0" bIns="0">
            <a:spAutoFit/>
          </a:bodyPr>
          <a:lstStyle/>
          <a:p>
            <a:pPr algn="l">
              <a:lnSpc>
                <a:spcPct val="100000"/>
              </a:lnSpc>
              <a:spcAft>
                <a:spcPts val="600"/>
              </a:spcAft>
            </a:pPr>
            <a:r>
              <a:rPr sz="3200" b="1" i="0">
                <a:solidFill>
                  <a:srgbClr val="1B3A6B"/>
                </a:solidFill>
                <a:latin typeface="Calibri"/>
              </a:rPr>
              <a:t>Same Ranking on an Independent Dataset</a:t>
            </a:r>
          </a:p>
        </p:txBody>
      </p:sp>
      <p:sp>
        <p:nvSpPr>
          <p:cNvPr id="4" name="Rounded Rectangle 3"/>
          <p:cNvSpPr/>
          <p:nvPr/>
        </p:nvSpPr>
        <p:spPr>
          <a:xfrm>
            <a:off x="548640" y="1691640"/>
            <a:ext cx="5394960" cy="2377440"/>
          </a:xfrm>
          <a:prstGeom prst="roundRect">
            <a:avLst>
              <a:gd name="adj" fmla="val 8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74519"/>
            <a:ext cx="4846320" cy="365760"/>
          </a:xfrm>
          <a:prstGeom prst="rect">
            <a:avLst/>
          </a:prstGeom>
          <a:noFill/>
        </p:spPr>
        <p:txBody>
          <a:bodyPr wrap="square" anchor="t" lIns="0" rIns="0" tIns="0" bIns="0">
            <a:spAutoFit/>
          </a:bodyPr>
          <a:lstStyle/>
          <a:p>
            <a:pPr algn="l">
              <a:lnSpc>
                <a:spcPct val="100000"/>
              </a:lnSpc>
              <a:spcAft>
                <a:spcPts val="600"/>
              </a:spcAft>
            </a:pPr>
            <a:r>
              <a:rPr sz="1600" b="1" i="0">
                <a:solidFill>
                  <a:srgbClr val="1B3A6B"/>
                </a:solidFill>
                <a:latin typeface="Calibri"/>
              </a:rPr>
              <a:t>UCI Taiwan credit-card default (30k clients)</a:t>
            </a:r>
          </a:p>
        </p:txBody>
      </p:sp>
      <p:sp>
        <p:nvSpPr>
          <p:cNvPr id="6" name="TextBox 5"/>
          <p:cNvSpPr txBox="1"/>
          <p:nvPr/>
        </p:nvSpPr>
        <p:spPr>
          <a:xfrm>
            <a:off x="822960" y="2331720"/>
            <a:ext cx="4846320" cy="1645920"/>
          </a:xfrm>
          <a:prstGeom prst="rect">
            <a:avLst/>
          </a:prstGeom>
          <a:noFill/>
        </p:spPr>
        <p:txBody>
          <a:bodyPr wrap="square" anchor="t" lIns="0" rIns="0" tIns="0" bIns="0">
            <a:spAutoFit/>
          </a:bodyPr>
          <a:lstStyle/>
          <a:p>
            <a:pPr algn="l">
              <a:lnSpc>
                <a:spcPct val="100000"/>
              </a:lnSpc>
              <a:spcAft>
                <a:spcPts val="1000"/>
              </a:spcAft>
            </a:pPr>
            <a:r>
              <a:rPr sz="1450" b="1" i="0">
                <a:solidFill>
                  <a:srgbClr val="1B7A4B"/>
                </a:solidFill>
                <a:latin typeface="Calibri"/>
              </a:rPr>
              <a:t>XGBoost 0.788</a:t>
            </a:r>
            <a:r>
              <a:rPr sz="1450" b="0" i="0">
                <a:solidFill>
                  <a:srgbClr val="212121"/>
                </a:solidFill>
                <a:latin typeface="Calibri"/>
              </a:rPr>
              <a:t>  vs scorecard 0.772 AUC: +1.50 pts, p = 2.8×10⁻⁶</a:t>
            </a:r>
          </a:p>
          <a:p>
            <a:pPr algn="l">
              <a:lnSpc>
                <a:spcPct val="100000"/>
              </a:lnSpc>
              <a:spcAft>
                <a:spcPts val="1000"/>
              </a:spcAft>
            </a:pPr>
            <a:r>
              <a:rPr sz="1450" b="1" i="0">
                <a:solidFill>
                  <a:srgbClr val="A42A2A"/>
                </a:solidFill>
                <a:latin typeface="Calibri"/>
              </a:rPr>
              <a:t>MLP 0.766</a:t>
            </a:r>
            <a:r>
              <a:rPr sz="1450" b="0" i="0">
                <a:solidFill>
                  <a:srgbClr val="212121"/>
                </a:solidFill>
                <a:latin typeface="Calibri"/>
              </a:rPr>
              <a:t>  again below the scorecard</a:t>
            </a:r>
          </a:p>
          <a:p>
            <a:pPr algn="l">
              <a:lnSpc>
                <a:spcPct val="100000"/>
              </a:lnSpc>
              <a:spcAft>
                <a:spcPts val="1000"/>
              </a:spcAft>
            </a:pPr>
            <a:r>
              <a:rPr sz="1450" b="1" i="0">
                <a:solidFill>
                  <a:srgbClr val="1B3A6B"/>
                </a:solidFill>
                <a:latin typeface="Calibri"/>
              </a:rPr>
              <a:t>Scorecard again best ECE</a:t>
            </a:r>
            <a:r>
              <a:rPr sz="1450" b="0" i="0">
                <a:solidFill>
                  <a:srgbClr val="212121"/>
                </a:solidFill>
                <a:latin typeface="Calibri"/>
              </a:rPr>
              <a:t>  after identical recalibration</a:t>
            </a:r>
          </a:p>
        </p:txBody>
      </p:sp>
      <p:sp>
        <p:nvSpPr>
          <p:cNvPr id="7" name="TextBox 6"/>
          <p:cNvSpPr txBox="1"/>
          <p:nvPr/>
        </p:nvSpPr>
        <p:spPr>
          <a:xfrm>
            <a:off x="6309360" y="1371600"/>
            <a:ext cx="5394960" cy="365760"/>
          </a:xfrm>
          <a:prstGeom prst="rect">
            <a:avLst/>
          </a:prstGeom>
          <a:noFill/>
        </p:spPr>
        <p:txBody>
          <a:bodyPr wrap="square" anchor="t" lIns="0" rIns="0" tIns="0" bIns="0">
            <a:spAutoFit/>
          </a:bodyPr>
          <a:lstStyle/>
          <a:p>
            <a:pPr algn="l">
              <a:lnSpc>
                <a:spcPct val="100000"/>
              </a:lnSpc>
              <a:spcAft>
                <a:spcPts val="600"/>
              </a:spcAft>
            </a:pPr>
            <a:r>
              <a:rPr sz="1600" b="1" i="0">
                <a:solidFill>
                  <a:srgbClr val="1B3A6B"/>
                </a:solidFill>
                <a:latin typeface="Calibri"/>
              </a:rPr>
              <a:t>Honest limitations</a:t>
            </a:r>
          </a:p>
        </p:txBody>
      </p:sp>
      <p:sp>
        <p:nvSpPr>
          <p:cNvPr id="8" name="TextBox 7"/>
          <p:cNvSpPr txBox="1"/>
          <p:nvPr/>
        </p:nvSpPr>
        <p:spPr>
          <a:xfrm>
            <a:off x="6309360" y="1874519"/>
            <a:ext cx="5394960" cy="4572000"/>
          </a:xfrm>
          <a:prstGeom prst="rect">
            <a:avLst/>
          </a:prstGeom>
          <a:noFill/>
        </p:spPr>
        <p:txBody>
          <a:bodyPr wrap="square" anchor="t" lIns="0" rIns="0" tIns="0" bIns="0">
            <a:spAutoFit/>
          </a:bodyPr>
          <a:lstStyle/>
          <a:p>
            <a:pPr algn="l">
              <a:lnSpc>
                <a:spcPct val="105000"/>
              </a:lnSpc>
              <a:spcAft>
                <a:spcPts val="900"/>
              </a:spcAft>
            </a:pPr>
            <a:r>
              <a:rPr sz="1400" b="1" i="0">
                <a:solidFill>
                  <a:srgbClr val="1B3A6B"/>
                </a:solidFill>
                <a:latin typeface="Calibri"/>
              </a:rPr>
              <a:t>Accepted loans only:  </a:t>
            </a:r>
            <a:r>
              <a:rPr sz="1400" b="0" i="0">
                <a:solidFill>
                  <a:srgbClr val="212121"/>
                </a:solidFill>
                <a:latin typeface="Calibri"/>
              </a:rPr>
              <a:t>all models inherit Lending Club's own selection; reject inference is an open problem.</a:t>
            </a:r>
          </a:p>
          <a:p>
            <a:pPr algn="l">
              <a:lnSpc>
                <a:spcPct val="105000"/>
              </a:lnSpc>
              <a:spcAft>
                <a:spcPts val="900"/>
              </a:spcAft>
            </a:pPr>
            <a:r>
              <a:rPr sz="1400" b="1" i="0">
                <a:solidFill>
                  <a:srgbClr val="1B3A6B"/>
                </a:solidFill>
                <a:latin typeface="Calibri"/>
              </a:rPr>
              <a:t>Simple profit model:  </a:t>
            </a:r>
            <a:r>
              <a:rPr sz="1400" b="0" i="0">
                <a:solidFill>
                  <a:srgbClr val="212121"/>
                </a:solidFill>
                <a:latin typeface="Calibri"/>
              </a:rPr>
              <a:t>undiscounted, fixed LGD of 0.65, no partial recoveries or prepayment.</a:t>
            </a:r>
          </a:p>
          <a:p>
            <a:pPr algn="l">
              <a:lnSpc>
                <a:spcPct val="105000"/>
              </a:lnSpc>
              <a:spcAft>
                <a:spcPts val="900"/>
              </a:spcAft>
            </a:pPr>
            <a:r>
              <a:rPr sz="1400" b="1" i="0">
                <a:solidFill>
                  <a:srgbClr val="1B3A6B"/>
                </a:solidFill>
                <a:latin typeface="Calibri"/>
              </a:rPr>
              <a:t>Platform grades kept as features:  </a:t>
            </a:r>
            <a:r>
              <a:rPr sz="1400" b="0" i="0">
                <a:solidFill>
                  <a:srgbClr val="212121"/>
                </a:solidFill>
                <a:latin typeface="Calibri"/>
              </a:rPr>
              <a:t>realistic for an investor; the ablation shows this understates the ML advantage by about 3x.</a:t>
            </a:r>
          </a:p>
          <a:p>
            <a:pPr algn="l">
              <a:lnSpc>
                <a:spcPct val="105000"/>
              </a:lnSpc>
              <a:spcAft>
                <a:spcPts val="900"/>
              </a:spcAft>
            </a:pPr>
            <a:r>
              <a:rPr sz="1400" b="1" i="0">
                <a:solidFill>
                  <a:srgbClr val="1B3A6B"/>
                </a:solidFill>
                <a:latin typeface="Calibri"/>
              </a:rPr>
              <a:t>One market, one test vintage:  </a:t>
            </a:r>
            <a:r>
              <a:rPr sz="1400" b="0" i="0">
                <a:solidFill>
                  <a:srgbClr val="212121"/>
                </a:solidFill>
                <a:latin typeface="Calibri"/>
              </a:rPr>
              <a:t>2015 was benign; a recession vintage could reorder the calibration findings.</a:t>
            </a:r>
          </a:p>
          <a:p>
            <a:pPr algn="l">
              <a:lnSpc>
                <a:spcPct val="105000"/>
              </a:lnSpc>
              <a:spcAft>
                <a:spcPts val="900"/>
              </a:spcAft>
            </a:pPr>
            <a:r>
              <a:rPr sz="1400" b="1" i="0">
                <a:solidFill>
                  <a:srgbClr val="1B3A6B"/>
                </a:solidFill>
                <a:latin typeface="Calibri"/>
              </a:rPr>
              <a:t>My scorecard is unconstrained:  </a:t>
            </a:r>
            <a:r>
              <a:rPr sz="1400" b="0" i="0">
                <a:solidFill>
                  <a:srgbClr val="212121"/>
                </a:solidFill>
                <a:latin typeface="Calibri"/>
              </a:rPr>
              <a:t>expert binning with monotonicity constraints would likely close part of the gap.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698480" cy="320040"/>
          </a:xfrm>
          <a:prstGeom prst="rect">
            <a:avLst/>
          </a:prstGeom>
          <a:noFill/>
        </p:spPr>
        <p:txBody>
          <a:bodyPr wrap="square" anchor="t" lIns="0" rIns="0" tIns="0" bIns="0">
            <a:spAutoFit/>
          </a:bodyPr>
          <a:lstStyle/>
          <a:p>
            <a:pPr algn="l">
              <a:lnSpc>
                <a:spcPct val="100000"/>
              </a:lnSpc>
              <a:spcAft>
                <a:spcPts val="600"/>
              </a:spcAft>
            </a:pPr>
            <a:r>
              <a:rPr sz="1300" b="1" i="0">
                <a:solidFill>
                  <a:srgbClr val="C99B1C"/>
                </a:solidFill>
                <a:latin typeface="Calibri"/>
              </a:rPr>
              <a:t>WRAP-UP</a:t>
            </a:r>
          </a:p>
        </p:txBody>
      </p:sp>
      <p:sp>
        <p:nvSpPr>
          <p:cNvPr id="4" name="TextBox 3"/>
          <p:cNvSpPr txBox="1"/>
          <p:nvPr/>
        </p:nvSpPr>
        <p:spPr>
          <a:xfrm>
            <a:off x="731520" y="868680"/>
            <a:ext cx="10698480" cy="1280160"/>
          </a:xfrm>
          <a:prstGeom prst="rect">
            <a:avLst/>
          </a:prstGeom>
          <a:noFill/>
        </p:spPr>
        <p:txBody>
          <a:bodyPr wrap="square" anchor="t" lIns="0" rIns="0" tIns="0" bIns="0">
            <a:spAutoFit/>
          </a:bodyPr>
          <a:lstStyle/>
          <a:p>
            <a:pPr algn="l">
              <a:lnSpc>
                <a:spcPct val="100000"/>
              </a:lnSpc>
              <a:spcAft>
                <a:spcPts val="600"/>
              </a:spcAft>
            </a:pPr>
            <a:r>
              <a:rPr sz="3100" b="1" i="0">
                <a:solidFill>
                  <a:srgbClr val="FFFFFF"/>
                </a:solidFill>
                <a:latin typeface="Calibri"/>
              </a:rPr>
              <a:t>A Qualified Yes: ML Wins, but Narrowly, and Only the Trees</a:t>
            </a:r>
          </a:p>
        </p:txBody>
      </p:sp>
      <p:sp>
        <p:nvSpPr>
          <p:cNvPr id="5" name="TextBox 4"/>
          <p:cNvSpPr txBox="1"/>
          <p:nvPr/>
        </p:nvSpPr>
        <p:spPr>
          <a:xfrm>
            <a:off x="731520" y="1965960"/>
            <a:ext cx="10698480" cy="2651760"/>
          </a:xfrm>
          <a:prstGeom prst="rect">
            <a:avLst/>
          </a:prstGeom>
          <a:noFill/>
        </p:spPr>
        <p:txBody>
          <a:bodyPr wrap="square" anchor="t" lIns="0" rIns="0" tIns="0" bIns="0">
            <a:spAutoFit/>
          </a:bodyPr>
          <a:lstStyle/>
          <a:p>
            <a:pPr algn="l">
              <a:lnSpc>
                <a:spcPct val="108000"/>
              </a:lnSpc>
              <a:spcAft>
                <a:spcPts val="1300"/>
              </a:spcAft>
            </a:pPr>
            <a:r>
              <a:rPr sz="1550" b="1" i="0">
                <a:solidFill>
                  <a:srgbClr val="C99B1C"/>
                </a:solidFill>
                <a:latin typeface="Calibri"/>
              </a:rPr>
              <a:t>Boosted trees beat the scorecard on all three criteria:  </a:t>
            </a:r>
            <a:r>
              <a:rPr sz="1550" b="0" i="0">
                <a:solidFill>
                  <a:srgbClr val="FFFFFF"/>
                </a:solidFill>
                <a:latin typeface="Calibri"/>
              </a:rPr>
              <a:t>discrimination (+0.85 AUC pts, p &lt; 10⁻⁵⁴), Brier after identical recalibration, and profit (+2.1% at the optimal cutoff).</a:t>
            </a:r>
          </a:p>
          <a:p>
            <a:pPr algn="l">
              <a:lnSpc>
                <a:spcPct val="108000"/>
              </a:lnSpc>
              <a:spcAft>
                <a:spcPts val="1300"/>
              </a:spcAft>
            </a:pPr>
            <a:r>
              <a:rPr sz="1550" b="1" i="0">
                <a:solidFill>
                  <a:srgbClr val="C99B1C"/>
                </a:solidFill>
                <a:latin typeface="Calibri"/>
              </a:rPr>
              <a:t>But the margins are modest and uneven:  </a:t>
            </a:r>
            <a:r>
              <a:rPr sz="1550" b="0" i="0">
                <a:solidFill>
                  <a:srgbClr val="FFFFFF"/>
                </a:solidFill>
                <a:latin typeface="Calibri"/>
              </a:rPr>
              <a:t>the MLP loses to the scorecard outright, and the scorecard stays better calibrated than either tree ensemble.</a:t>
            </a:r>
          </a:p>
          <a:p>
            <a:pPr algn="l">
              <a:lnSpc>
                <a:spcPct val="108000"/>
              </a:lnSpc>
              <a:spcAft>
                <a:spcPts val="1300"/>
              </a:spcAft>
            </a:pPr>
            <a:r>
              <a:rPr sz="1550" b="1" i="0">
                <a:solidFill>
                  <a:srgbClr val="C99B1C"/>
                </a:solidFill>
                <a:latin typeface="Calibri"/>
              </a:rPr>
              <a:t>The margin depends on the information set:  </a:t>
            </a:r>
            <a:r>
              <a:rPr sz="1550" b="0" i="0">
                <a:solidFill>
                  <a:srgbClr val="FFFFFF"/>
                </a:solidFill>
                <a:latin typeface="Calibri"/>
              </a:rPr>
              <a:t>withholding the platform's own pricing widens XGBoost's lead from 0.83 to 2.39 AUC points, so the headline number understates what ML offers a lender underwriting from bureau data directly.</a:t>
            </a:r>
          </a:p>
          <a:p>
            <a:pPr algn="l">
              <a:lnSpc>
                <a:spcPct val="108000"/>
              </a:lnSpc>
              <a:spcAft>
                <a:spcPts val="1300"/>
              </a:spcAft>
            </a:pPr>
            <a:r>
              <a:rPr sz="1550" b="1" i="0">
                <a:solidFill>
                  <a:srgbClr val="C99B1C"/>
                </a:solidFill>
                <a:latin typeface="Calibri"/>
              </a:rPr>
              <a:t>What I learned:  </a:t>
            </a:r>
            <a:r>
              <a:rPr sz="1550" b="0" i="0">
                <a:solidFill>
                  <a:srgbClr val="FFFFFF"/>
                </a:solidFill>
                <a:latin typeface="Calibri"/>
              </a:rPr>
              <a:t>leakage control was the highest-leverage work in the project; the model ranking changes with the question asked; and vintage drift is why PD models are monitored, not trusted.</a:t>
            </a:r>
          </a:p>
          <a:p>
            <a:pPr algn="l">
              <a:lnSpc>
                <a:spcPct val="108000"/>
              </a:lnSpc>
              <a:spcAft>
                <a:spcPts val="1300"/>
              </a:spcAft>
            </a:pPr>
            <a:r>
              <a:rPr sz="1550" b="1" i="0">
                <a:solidFill>
                  <a:srgbClr val="C99B1C"/>
                </a:solidFill>
                <a:latin typeface="Calibri"/>
              </a:rPr>
              <a:t>Future work:  </a:t>
            </a:r>
            <a:r>
              <a:rPr sz="1550" b="0" i="0">
                <a:solidFill>
                  <a:srgbClr val="FFFFFF"/>
                </a:solidFill>
                <a:latin typeface="Calibri"/>
              </a:rPr>
              <a:t>reject inference, default-timing survival models, discounted cash flows, monotonic gradient boosting, a recession-vintage stress test.</a:t>
            </a:r>
          </a:p>
        </p:txBody>
      </p:sp>
      <p:sp>
        <p:nvSpPr>
          <p:cNvPr id="6" name="Rectangle 5"/>
          <p:cNvSpPr/>
          <p:nvPr/>
        </p:nvSpPr>
        <p:spPr>
          <a:xfrm>
            <a:off x="731520" y="5577840"/>
            <a:ext cx="10698480" cy="18288"/>
          </a:xfrm>
          <a:prstGeom prst="rect">
            <a:avLst/>
          </a:prstGeom>
          <a:solidFill>
            <a:srgbClr val="C99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5806440"/>
            <a:ext cx="10698480" cy="731520"/>
          </a:xfrm>
          <a:prstGeom prst="rect">
            <a:avLst/>
          </a:prstGeom>
          <a:noFill/>
        </p:spPr>
        <p:txBody>
          <a:bodyPr wrap="square" anchor="t" lIns="0" rIns="0" tIns="0" bIns="0">
            <a:spAutoFit/>
          </a:bodyPr>
          <a:lstStyle/>
          <a:p>
            <a:pPr algn="l">
              <a:lnSpc>
                <a:spcPct val="100000"/>
              </a:lnSpc>
              <a:spcAft>
                <a:spcPts val="600"/>
              </a:spcAft>
            </a:pPr>
            <a:r>
              <a:rPr sz="1500" b="1" i="0">
                <a:solidFill>
                  <a:srgbClr val="C99B1C"/>
                </a:solidFill>
                <a:latin typeface="Calibri"/>
              </a:rPr>
              <a:t>Code, results and report:  </a:t>
            </a:r>
            <a:r>
              <a:rPr sz="1500" b="1" i="0">
                <a:solidFill>
                  <a:srgbClr val="FFFFFF"/>
                </a:solidFill>
                <a:latin typeface="Calibri"/>
              </a:rPr>
              <a:t>github.com/iitgF/T8</a:t>
            </a:r>
            <a:r>
              <a:rPr sz="1300" b="0" i="0">
                <a:solidFill>
                  <a:srgbClr val="C8D4E8"/>
                </a:solidFill>
                <a:latin typeface="Calibri"/>
              </a:rPr>
              <a:t>      François Schmitt  ·  23035010523  ·  BSc (Hons) DSAI, IIT Guwahati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