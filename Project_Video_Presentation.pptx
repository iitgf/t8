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Hello, my name is Francois Schmitt, I am a student of the BSc Honours Data Science and AI Online Degree Programme at IIT Guwahati, and this is my Trimester 8 term project: Does Machine Learning Beat the Credit Scorecard? (state name, programme and project verbally, face visible)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problem: PD estimation from origination-time data only. Banks use scorecards for regulatory reasons; the literature says ML wins but measures only discrimination. My project tests all three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tools mention: Python 3.13, pandas for data, scikit-learn plus XGBoost and LightGBM for models, everything in a modular package on GitHub; one command reproduces the study in about 18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Dataset: public Lending Club loans. Key decisions: 36-month loans so outcomes are fully observed; a strict origination-time whitelist against leakage; and an out-of-time vintage split rather than a random split. Robustness on the UCI Taiwan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package structure on screen here. Emphasize: honest WoE scorecard baseline, shared design matrix, calibration fit only on the validation vintage, profit from actual loan cash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results: XGBoost +0.85 AUC points over the scorecard, LightGBM close behind, both overwhelmingly significant by DeLong. The MLP actually loses to the scorecard. Explain why the gap is modest.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Reliability diagrams: raw curves above the diagonal because of vintage drift. Isotonic recalibration on 2014 removes most but not all bias. Scorecard is the best-calibrated model throughout; this is why regulators monitor rather than trust PD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Profit curves from actual cash flows. The whole battle happens in the zoomed panel: XGBoost's optimal policy makes 2.1% more than the scorecard's. Modest per applicant, linear in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 importance vs information value: both models rely on the platform's risk pricing, so all four models largely re-rank loans Lending Club already ranked. The scorecard stays point-readable.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Taiwan reproduces the ranking, so it is not a Lending Club artifact. Then the honest limitations: reject inference, simple cash-flow model, platform grades as features, single benign test vintage.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up: qualified yes. Recap the three criteria, the learnings, and future work. Point to the GitHub repo where everything reproduces with one command. Thank the 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99B1C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B3A6B"/>
                </a:solidFill>
                <a:latin typeface="Calibri"/>
              </a:rPr>
              <a:t>Probability of Default: the Highest-Stakes Model in Banking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6126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50" b="1" i="0">
                <a:solidFill>
                  <a:srgbClr val="1B3A6B"/>
                </a:solidFill>
                <a:latin typeface="Calibri"/>
              </a:rPr>
              <a:t>The task:  </a:t>
            </a:r>
            <a:r>
              <a:rPr sz="1550" b="0" i="0">
                <a:solidFill>
                  <a:srgbClr val="212121"/>
                </a:solidFill>
                <a:latin typeface="Calibri"/>
              </a:rPr>
              <a:t>estimate the probability that a loan applicant defaults, using only information available on the day of application.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50" b="1" i="0">
                <a:solidFill>
                  <a:srgbClr val="1B3A6B"/>
                </a:solidFill>
                <a:latin typeface="Calibri"/>
              </a:rPr>
              <a:t>Why it matters:  </a:t>
            </a:r>
            <a:r>
              <a:rPr sz="1550" b="0" i="0">
                <a:solidFill>
                  <a:srgbClr val="212121"/>
                </a:solidFill>
                <a:latin typeface="Calibri"/>
              </a:rPr>
              <a:t>PD models drive accept/reject decisions, pricing, and, under Basel and IFRS 9, regulatory capital and provisions.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50" b="1" i="0">
                <a:solidFill>
                  <a:srgbClr val="1B3A6B"/>
                </a:solidFill>
                <a:latin typeface="Calibri"/>
              </a:rPr>
              <a:t>The status quo:  </a:t>
            </a:r>
            <a:r>
              <a:rPr sz="1550" b="0" i="0">
                <a:solidFill>
                  <a:srgbClr val="212121"/>
                </a:solidFill>
                <a:latin typeface="Calibri"/>
              </a:rPr>
              <a:t>banks still use logistic-regression scorecards, a forty-year-old technology, because they are stable and explainable.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50" b="1" i="0">
                <a:solidFill>
                  <a:srgbClr val="1B3A6B"/>
                </a:solidFill>
                <a:latin typeface="Calibri"/>
              </a:rPr>
              <a:t>The ML claim:  </a:t>
            </a:r>
            <a:r>
              <a:rPr sz="1550" b="0" i="0">
                <a:solidFill>
                  <a:srgbClr val="212121"/>
                </a:solidFill>
                <a:latin typeface="Calibri"/>
              </a:rPr>
              <a:t>benchmarking papers report boosted trees dominate, but they score models almost exclusively by AUC.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50" b="1" i="0">
                <a:solidFill>
                  <a:srgbClr val="1B3A6B"/>
                </a:solidFill>
                <a:latin typeface="Calibri"/>
              </a:rPr>
              <a:t>The question:  </a:t>
            </a:r>
            <a:r>
              <a:rPr sz="1550" b="0" i="0">
                <a:solidFill>
                  <a:srgbClr val="212121"/>
                </a:solidFill>
                <a:latin typeface="Calibri"/>
              </a:rPr>
              <a:t>does the ML advantage survive the criteria a lender actually needs?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600200"/>
            <a:ext cx="4572000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75564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B3A6B"/>
                </a:solidFill>
                <a:latin typeface="Calibri"/>
              </a:rPr>
              <a:t>1. Discrimination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10312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Can the model rank bad borrowers above good ones? (AUC, 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3017520"/>
            <a:ext cx="4572000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317296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B3A6B"/>
                </a:solidFill>
                <a:latin typeface="Calibri"/>
              </a:rPr>
              <a:t>2. Calibration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52044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Can the predicted PD be taken at face value? (Brier, ECE, reliability)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4434840"/>
            <a:ext cx="4572000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45902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B3A6B"/>
                </a:solidFill>
                <a:latin typeface="Calibri"/>
              </a:rPr>
              <a:t>3. 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93776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Does the model make money at its accept/reject cutoff?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99B1C"/>
                </a:solidFill>
                <a:latin typeface="Calibri"/>
              </a:rPr>
              <a:t>TOOLS AND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B3A6B"/>
                </a:solidFill>
                <a:latin typeface="Calibri"/>
              </a:rPr>
              <a:t>A Reproducible Python Stack, CPU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C99B1C"/>
                </a:solidFill>
                <a:latin typeface="Calibri"/>
              </a:rPr>
              <a:t>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2103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50" b="0" i="0">
                <a:solidFill>
                  <a:srgbClr val="212121"/>
                </a:solidFill>
                <a:latin typeface="Calibri"/>
              </a:rPr>
              <a:t>Python 3.13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73736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9659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C99B1C"/>
                </a:solidFill>
                <a:latin typeface="Calibri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423160"/>
            <a:ext cx="2103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50" b="0" i="0">
                <a:solidFill>
                  <a:srgbClr val="212121"/>
                </a:solidFill>
                <a:latin typeface="Calibri"/>
              </a:rPr>
              <a:t>pandas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50" b="0" i="0">
                <a:solidFill>
                  <a:srgbClr val="212121"/>
                </a:solidFill>
                <a:latin typeface="Calibri"/>
              </a:rPr>
              <a:t>NumPy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50" b="0" i="0">
                <a:solidFill>
                  <a:srgbClr val="212121"/>
                </a:solidFill>
                <a:latin typeface="Calibri"/>
              </a:rPr>
              <a:t>kagglehub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9659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C99B1C"/>
                </a:solidFill>
                <a:latin typeface="Calibri"/>
              </a:rPr>
              <a:t>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23160"/>
            <a:ext cx="2103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50" b="0" i="0">
                <a:solidFill>
                  <a:srgbClr val="212121"/>
                </a:solidFill>
                <a:latin typeface="Calibri"/>
              </a:rPr>
              <a:t>scikit-learn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50" b="0" i="0">
                <a:solidFill>
                  <a:srgbClr val="212121"/>
                </a:solidFill>
                <a:latin typeface="Calibri"/>
              </a:rPr>
              <a:t>XGBoost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50" b="0" i="0">
                <a:solidFill>
                  <a:srgbClr val="212121"/>
                </a:solidFill>
                <a:latin typeface="Calibri"/>
              </a:rPr>
              <a:t>LightGBM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50" b="0" i="0">
                <a:solidFill>
                  <a:srgbClr val="212121"/>
                </a:solidFill>
                <a:latin typeface="Calibri"/>
              </a:rPr>
              <a:t>SciPy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73736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19659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C99B1C"/>
                </a:solidFill>
                <a:latin typeface="Calibri"/>
              </a:rPr>
              <a:t>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423160"/>
            <a:ext cx="2103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50" b="0" i="0">
                <a:solidFill>
                  <a:srgbClr val="212121"/>
                </a:solidFill>
                <a:latin typeface="Calibri"/>
              </a:rPr>
              <a:t>Jupyter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50" b="0" i="0">
                <a:solidFill>
                  <a:srgbClr val="212121"/>
                </a:solidFill>
                <a:latin typeface="Calibri"/>
              </a:rPr>
              <a:t>VS Code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50" b="0" i="0">
                <a:solidFill>
                  <a:srgbClr val="212121"/>
                </a:solidFill>
                <a:latin typeface="Calibri"/>
              </a:rPr>
              <a:t>Git / GitHub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50" b="0" i="0">
                <a:solidFill>
                  <a:srgbClr val="212121"/>
                </a:solidFill>
                <a:latin typeface="Calibri"/>
              </a:rPr>
              <a:t>LaTeX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1B3A6B"/>
                </a:solidFill>
                <a:latin typeface="Calibri"/>
              </a:rPr>
              <a:t>Everything is scripted:  </a:t>
            </a:r>
            <a:r>
              <a:rPr sz="1550" b="0" i="0">
                <a:solidFill>
                  <a:srgbClr val="212121"/>
                </a:solidFill>
                <a:latin typeface="Calibri"/>
              </a:rPr>
              <a:t>one command reproduces the full study, about 18 minutes on a laptop; all seeds fixed, one shared vintage split.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99B1C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B3A6B"/>
                </a:solidFill>
                <a:latin typeface="Calibri"/>
              </a:rPr>
              <a:t>Lending Club Personal Loans, Engineered Against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1B3A6B"/>
                </a:solidFill>
                <a:latin typeface="Calibri"/>
              </a:rPr>
              <a:t>621,022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59152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36-month loans, 2007-2015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645920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1B3A6B"/>
                </a:solidFill>
                <a:latin typeface="Calibri"/>
              </a:rPr>
              <a:t>151 →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2359152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columns after leakage whitelist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3A6B"/>
                </a:solidFill>
                <a:latin typeface="Calibri"/>
              </a:rPr>
              <a:t>12.6 → 14.9%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359152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default rate, train → test vintage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1645920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1B3A6B"/>
                </a:solidFill>
                <a:latin typeface="Calibri"/>
              </a:rPr>
              <a:t>30,000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2359152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UCI Taiwan clients (robustness)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109728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B3A6B"/>
                </a:solidFill>
                <a:latin typeface="Calibri"/>
              </a:rPr>
              <a:t>Source:  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public Lending Club export (Kaggle); 36-month loans only, so every loan matures before the data ends and no outcome is censored.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B3A6B"/>
                </a:solidFill>
                <a:latin typeface="Calibri"/>
              </a:rPr>
              <a:t>Target:  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charged-off vs fully paid; loans still in flight are excluded.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B3A6B"/>
                </a:solidFill>
                <a:latin typeface="Calibri"/>
              </a:rPr>
              <a:t>The leakage filter is the hard work:  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the raw export has 151 columns, most of them post-origination servicing fields (payments received, recoveries, hardship flags) that trivially predict the outcome. I kept an explicit whitelist of 23 origination-time fields.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B3A6B"/>
                </a:solidFill>
                <a:latin typeface="Calibri"/>
              </a:rPr>
              <a:t>Out-of-time split:  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train on 2007-2013 vintages, calibrate on 2014, test on 2015, exactly how a deployed model meets the future. The rising default rate across vintages is the drift a real model faces.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99B1C"/>
                </a:solidFill>
                <a:latin typeface="Calibri"/>
              </a:rPr>
              <a:t>APPROACH AND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B3A6B"/>
                </a:solidFill>
                <a:latin typeface="Calibri"/>
              </a:rPr>
              <a:t>One Pipeline, Four Models, Identical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577840" cy="42062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B3A6B"/>
                </a:solidFill>
                <a:latin typeface="Calibri"/>
              </a:rPr>
              <a:t>The creditrisk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0292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450" b="1" i="0">
                <a:solidFill>
                  <a:srgbClr val="C99B1C"/>
                </a:solidFill>
                <a:latin typeface="Calibri"/>
              </a:rPr>
              <a:t>data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  loaders + leakage whitelist + vintage split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450" b="1" i="0">
                <a:solidFill>
                  <a:srgbClr val="C99B1C"/>
                </a:solidFill>
                <a:latin typeface="Calibri"/>
              </a:rPr>
              <a:t>woe / scorecard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  WoE binning, IV screen, logistic, points scaling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450" b="1" i="0">
                <a:solidFill>
                  <a:srgbClr val="C99B1C"/>
                </a:solidFill>
                <a:latin typeface="Calibri"/>
              </a:rPr>
              <a:t>models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  XGBoost, LightGBM, MLP on a shared design matrix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450" b="1" i="0">
                <a:solidFill>
                  <a:srgbClr val="C99B1C"/>
                </a:solidFill>
                <a:latin typeface="Calibri"/>
              </a:rPr>
              <a:t>calibration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  Platt + isotonic, fit on the 2014 vintage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450" b="1" i="0">
                <a:solidFill>
                  <a:srgbClr val="C99B1C"/>
                </a:solidFill>
                <a:latin typeface="Calibri"/>
              </a:rPr>
              <a:t>metrics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  AUC, KS, Brier, ECE, DeLong test, bootstrap CIs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450" b="1" i="0">
                <a:solidFill>
                  <a:srgbClr val="C99B1C"/>
                </a:solidFill>
                <a:latin typeface="Calibri"/>
              </a:rPr>
              <a:t>decision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  accept/reject profit sweep over PD cutoffs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450" b="1" i="0">
                <a:solidFill>
                  <a:srgbClr val="C99B1C"/>
                </a:solidFill>
                <a:latin typeface="Calibri"/>
              </a:rPr>
              <a:t>pipeline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  end-to-end orchestration, 5 seeds per ML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50292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1B3A6B"/>
                </a:solidFill>
                <a:latin typeface="Calibri"/>
              </a:rPr>
              <a:t>The baseline is honest:  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an industry-style weight-of-evidence scorecard, not a strawman logistic regression on raw inputs.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1B3A6B"/>
                </a:solidFill>
                <a:latin typeface="Calibri"/>
              </a:rPr>
              <a:t>Same information for everyone:  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all four models see the identical 23 origination-time features; preprocessing differences cannot explain gaps.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1B3A6B"/>
                </a:solidFill>
                <a:latin typeface="Calibri"/>
              </a:rPr>
              <a:t>Calibration is separated from fitting:  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every model is recalibrated the same way on the validation vintage, mimicking bank practice.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1B3A6B"/>
                </a:solidFill>
                <a:latin typeface="Calibri"/>
              </a:rPr>
              <a:t>Profit uses real cash flows:  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repaid loans earn their actual interest; charged-off loans lose 65% of principal.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99B1C"/>
                </a:solidFill>
                <a:latin typeface="Calibri"/>
              </a:rPr>
              <a:t>RESULTS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B3A6B"/>
                </a:solidFill>
                <a:latin typeface="Calibri"/>
              </a:rPr>
              <a:t>Discrimination: the Trees Win, the Neural Net Loses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69494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188720"/>
                <a:gridCol w="1188720"/>
                <a:gridCol w="2834640"/>
              </a:tblGrid>
              <a:tr h="566928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KS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ΔAUC vs scorecard (DeLong)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212121"/>
                          </a:solidFill>
                          <a:latin typeface="Calibri"/>
                        </a:rPr>
                        <a:t>Scorecard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0.6767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0.2570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212121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0.6850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0.2701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B7A4B"/>
                          </a:solidFill>
                          <a:latin typeface="Calibri"/>
                        </a:rPr>
                        <a:t>+0.85 pts,  p &lt; 10⁻⁵⁴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212121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0.6843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0.2693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B7A4B"/>
                          </a:solidFill>
                          <a:latin typeface="Calibri"/>
                        </a:rPr>
                        <a:t>+0.72 pts,  p &lt; 10⁻⁴⁸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212121"/>
                          </a:solidFill>
                          <a:latin typeface="Calibri"/>
                        </a:rPr>
                        <a:t>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0.6716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0.2542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A42A2A"/>
                          </a:solidFill>
                          <a:latin typeface="Calibri"/>
                        </a:rPr>
                        <a:t>−0.17 pts,  p = 0.024 (worse)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828800"/>
            <a:ext cx="38404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50" b="1" i="0">
                <a:solidFill>
                  <a:srgbClr val="1B3A6B"/>
                </a:solidFill>
                <a:latin typeface="Calibri"/>
              </a:rPr>
              <a:t>Statistically decisive: 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283,026 test loans give enormous power; the boosted-tree edge is unambiguous.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50" b="1" i="0">
                <a:solidFill>
                  <a:srgbClr val="1B3A6B"/>
                </a:solidFill>
                <a:latin typeface="Calibri"/>
              </a:rPr>
              <a:t>Economically modest: 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+0.85 AUC points, not the +8 to +15 sometimes quoted from random-split studies.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50" b="1" i="0">
                <a:solidFill>
                  <a:srgbClr val="1B3A6B"/>
                </a:solidFill>
                <a:latin typeface="Calibri"/>
              </a:rPr>
              <a:t>Deep learning does not pay: 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the MLP is significantly worse than the forty-year-old scorecard, on tabular credit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6949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1B3A6B"/>
                </a:solidFill>
                <a:latin typeface="Calibri"/>
              </a:rPr>
              <a:t>Why so close? 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The features include the platform's own risk pricing (grade, interest rate), and the out-of-time split denies flexible models the flattery of a random split.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99B1C"/>
                </a:solidFill>
                <a:latin typeface="Calibri"/>
              </a:rPr>
              <a:t>RESULTS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B3A6B"/>
                </a:solidFill>
                <a:latin typeface="Calibri"/>
              </a:rPr>
              <a:t>Calibration: Every Raw Model Under-Predicts the Future</a:t>
            </a:r>
          </a:p>
        </p:txBody>
      </p:sp>
      <p:pic>
        <p:nvPicPr>
          <p:cNvPr id="4" name="Picture 3" descr="fig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057541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1783080"/>
            <a:ext cx="55778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1B3A6B"/>
                </a:solidFill>
                <a:latin typeface="Calibri"/>
              </a:rPr>
              <a:t>Read the diagonal: 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a calibrated model's curve lies on it. Every raw curve (grey) sits above: the 2015 vintage defaulted more than the training years, so all models under-predict PD.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1B3A6B"/>
                </a:solidFill>
                <a:latin typeface="Calibri"/>
              </a:rPr>
              <a:t>Raw trees are worst: 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ECE 0.034 vs the scorecard's 0.025; margin-maximizing ensembles are not probability models.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1B3A6B"/>
                </a:solidFill>
                <a:latin typeface="Calibri"/>
              </a:rPr>
              <a:t>Isotonic recalibration helps everyone 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but cannot anticipate drift that was not yet visible in 2014.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1B3A6B"/>
                </a:solidFill>
                <a:latin typeface="Calibri"/>
              </a:rPr>
              <a:t>The scorecard stays best-calibrated: 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ECE 0.0175 vs XGBoost's 0.0214 after identical recalibration. The trees keep the better Brier score, which also rewards discrimination.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99B1C"/>
                </a:solidFill>
                <a:latin typeface="Calibri"/>
              </a:rPr>
              <a:t>RESULTS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B3A6B"/>
                </a:solidFill>
                <a:latin typeface="Calibri"/>
              </a:rPr>
              <a:t>Profit: the AUC Gap Becomes Money at the Cutoff</a:t>
            </a:r>
          </a:p>
        </p:txBody>
      </p:sp>
      <p:pic>
        <p:nvPicPr>
          <p:cNvPr id="4" name="Picture 3" descr="fig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7589520" cy="34245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828800"/>
            <a:ext cx="3200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1B3A6B"/>
                </a:solidFill>
                <a:latin typeface="Calibri"/>
              </a:rPr>
              <a:t>Accepting everyone already earns 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$705 per applicant; interest income dominates this portfolio.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1B3A6B"/>
                </a:solidFill>
                <a:latin typeface="Calibri"/>
              </a:rPr>
              <a:t>Scorecard: 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reject the riskiest 6.7% for +1.2% profit.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1B3A6B"/>
                </a:solidFill>
                <a:latin typeface="Calibri"/>
              </a:rPr>
              <a:t>XGBoost: 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reject 9.3% for +3.3%, that is +$14,700 per 1,000 applicants over the scorecard (+2.1%).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1B3A6B"/>
                </a:solidFill>
                <a:latin typeface="Calibri"/>
              </a:rPr>
              <a:t>Scale decides adoption: 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a modest edge worth millions at bank volume, and nothing at credit-union volume.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99B1C"/>
                </a:solidFill>
                <a:latin typeface="Calibri"/>
              </a:rPr>
              <a:t>RESULTS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B3A6B"/>
                </a:solidFill>
                <a:latin typeface="Calibri"/>
              </a:rPr>
              <a:t>What Did the Models Learn? Mostly the Same Thing</a:t>
            </a:r>
          </a:p>
        </p:txBody>
      </p:sp>
      <p:pic>
        <p:nvPicPr>
          <p:cNvPr id="4" name="Picture 3" descr="fig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7237973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828800"/>
            <a:ext cx="3840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50" b="1" i="0">
                <a:solidFill>
                  <a:srgbClr val="1B3A6B"/>
                </a:solidFill>
                <a:latin typeface="Calibri"/>
              </a:rPr>
              <a:t>Both families agree 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that the platform's own pricing (interest rate, grade) carries the most signal; rank correlation 0.56.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50" b="1" i="0">
                <a:solidFill>
                  <a:srgbClr val="1B3A6B"/>
                </a:solidFill>
                <a:latin typeface="Calibri"/>
              </a:rPr>
              <a:t>They disagree in encoding: 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the scorecard leans on sub-grade and FICO bins; XGBoost prefers the continuous interest rate and income.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50" b="1" i="0">
                <a:solidFill>
                  <a:srgbClr val="1B3A6B"/>
                </a:solidFill>
                <a:latin typeface="Calibri"/>
              </a:rPr>
              <a:t>Interpretability trade-off: 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the scorecard is a readable sum of points per applicant; the ensemble needs post-hoc explanation tools.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99B1C"/>
                </a:solidFill>
                <a:latin typeface="Calibri"/>
              </a:rPr>
              <a:t>ROBUSTNESS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B3A6B"/>
                </a:solidFill>
                <a:latin typeface="Calibri"/>
              </a:rPr>
              <a:t>Same Ranking on an Independent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394960" cy="23774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3A6B"/>
                </a:solidFill>
                <a:latin typeface="Calibri"/>
              </a:rPr>
              <a:t>UCI Taiwan credit-card default (30k clients)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50" b="1" i="0">
                <a:solidFill>
                  <a:srgbClr val="1B7A4B"/>
                </a:solidFill>
                <a:latin typeface="Calibri"/>
              </a:rPr>
              <a:t>XGBoost 0.788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  vs scorecard 0.772 AUC: +1.50 pts, p = 2.8×10⁻⁶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50" b="1" i="0">
                <a:solidFill>
                  <a:srgbClr val="A42A2A"/>
                </a:solidFill>
                <a:latin typeface="Calibri"/>
              </a:rPr>
              <a:t>MLP 0.766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  again below the scorecard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50" b="1" i="0">
                <a:solidFill>
                  <a:srgbClr val="1B3A6B"/>
                </a:solidFill>
                <a:latin typeface="Calibri"/>
              </a:rPr>
              <a:t>Scorecard again best ECE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  after identical recalibration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3A6B"/>
                </a:solidFill>
                <a:latin typeface="Calibri"/>
              </a:rPr>
              <a:t>Honest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74519"/>
            <a:ext cx="53949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Accepted loans only:  </a:t>
            </a:r>
            <a:r>
              <a:rPr sz="1400" b="0" i="0">
                <a:solidFill>
                  <a:srgbClr val="212121"/>
                </a:solidFill>
                <a:latin typeface="Calibri"/>
              </a:rPr>
              <a:t>all models inherit Lending Club's own selection; reject inference is an open problem.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Simple profit model:  </a:t>
            </a:r>
            <a:r>
              <a:rPr sz="1400" b="0" i="0">
                <a:solidFill>
                  <a:srgbClr val="212121"/>
                </a:solidFill>
                <a:latin typeface="Calibri"/>
              </a:rPr>
              <a:t>undiscounted, fixed LGD of 0.65, no partial recoveries or prepayment.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Platform grades kept as features:  </a:t>
            </a:r>
            <a:r>
              <a:rPr sz="1400" b="0" i="0">
                <a:solidFill>
                  <a:srgbClr val="212121"/>
                </a:solidFill>
                <a:latin typeface="Calibri"/>
              </a:rPr>
              <a:t>realistic for an investor, but understates what ML could add on raw bureau data.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One market, one test vintage:  </a:t>
            </a:r>
            <a:r>
              <a:rPr sz="1400" b="0" i="0">
                <a:solidFill>
                  <a:srgbClr val="212121"/>
                </a:solidFill>
                <a:latin typeface="Calibri"/>
              </a:rPr>
              <a:t>2015 was benign; a recession vintage could reorder the calibration findings.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My scorecard is unconstrained:  </a:t>
            </a:r>
            <a:r>
              <a:rPr sz="1400" b="0" i="0">
                <a:solidFill>
                  <a:srgbClr val="212121"/>
                </a:solidFill>
                <a:latin typeface="Calibri"/>
              </a:rPr>
              <a:t>expert binning with monotonicity constraints would likely close part of the gap.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99B1C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100" b="1" i="0">
                <a:solidFill>
                  <a:srgbClr val="FFFFFF"/>
                </a:solidFill>
                <a:latin typeface="Calibri"/>
              </a:rPr>
              <a:t>A Qualified Yes: ML Wins, but Narrowly, and Only the Trees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550" b="1" i="0">
                <a:solidFill>
                  <a:srgbClr val="C99B1C"/>
                </a:solidFill>
                <a:latin typeface="Calibri"/>
              </a:rPr>
              <a:t>Boosted trees beat the scorecard on all three criteria:  </a:t>
            </a:r>
            <a:r>
              <a:rPr sz="1550" b="0" i="0">
                <a:solidFill>
                  <a:srgbClr val="FFFFFF"/>
                </a:solidFill>
                <a:latin typeface="Calibri"/>
              </a:rPr>
              <a:t>discrimination (+0.85 AUC pts, p &lt; 10⁻⁵⁴), Brier after identical recalibration, and profit (+2.1% at the optimal cutoff).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550" b="1" i="0">
                <a:solidFill>
                  <a:srgbClr val="C99B1C"/>
                </a:solidFill>
                <a:latin typeface="Calibri"/>
              </a:rPr>
              <a:t>But the margins are modest and uneven:  </a:t>
            </a:r>
            <a:r>
              <a:rPr sz="1550" b="0" i="0">
                <a:solidFill>
                  <a:srgbClr val="FFFFFF"/>
                </a:solidFill>
                <a:latin typeface="Calibri"/>
              </a:rPr>
              <a:t>the MLP loses to the scorecard outright, and the scorecard stays the best-calibrated model throughout.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550" b="1" i="0">
                <a:solidFill>
                  <a:srgbClr val="C99B1C"/>
                </a:solidFill>
                <a:latin typeface="Calibri"/>
              </a:rPr>
              <a:t>What I learned:  </a:t>
            </a:r>
            <a:r>
              <a:rPr sz="1550" b="0" i="0">
                <a:solidFill>
                  <a:srgbClr val="FFFFFF"/>
                </a:solidFill>
                <a:latin typeface="Calibri"/>
              </a:rPr>
              <a:t>leakage control was the highest-leverage work in the project; the model ranking changes with the question asked; and vintage drift is why PD models are monitored, not trusted.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550" b="1" i="0">
                <a:solidFill>
                  <a:srgbClr val="C99B1C"/>
                </a:solidFill>
                <a:latin typeface="Calibri"/>
              </a:rPr>
              <a:t>Future work:  </a:t>
            </a:r>
            <a:r>
              <a:rPr sz="1550" b="0" i="0">
                <a:solidFill>
                  <a:srgbClr val="FFFFFF"/>
                </a:solidFill>
                <a:latin typeface="Calibri"/>
              </a:rPr>
              <a:t>reject inference, default-timing survival models, discounted cash flows, monotonic gradient boosting, a recession-vintage stress test.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577840"/>
            <a:ext cx="10698480" cy="18288"/>
          </a:xfrm>
          <a:prstGeom prst="rect">
            <a:avLst/>
          </a:prstGeom>
          <a:solidFill>
            <a:srgbClr val="C99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C99B1C"/>
                </a:solidFill>
                <a:latin typeface="Calibri"/>
              </a:rPr>
              <a:t>Code, results and report: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github.com/iitgF/T8</a:t>
            </a:r>
            <a:r>
              <a:rPr sz="1300" b="0" i="0">
                <a:solidFill>
                  <a:srgbClr val="C8D4E8"/>
                </a:solidFill>
                <a:latin typeface="Calibri"/>
              </a:rPr>
              <a:t>      François Schmitt  ·  23035010523  ·  BSc (Hons) DSAI, IIT Guwahati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